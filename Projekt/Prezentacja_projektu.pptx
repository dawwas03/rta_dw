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Gotham Bold" panose="020B0604020202020204" charset="0"/>
      <p:regular r:id="rId15"/>
    </p:embeddedFont>
    <p:embeddedFont>
      <p:font typeface="Poppins" panose="00000500000000000000" pitchFamily="2" charset="-18"/>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0" d="100"/>
          <a:sy n="40" d="100"/>
        </p:scale>
        <p:origin x="120" y="10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pl-PL"/>
          </a:p>
        </p:txBody>
      </p:sp>
      <p:grpSp>
        <p:nvGrpSpPr>
          <p:cNvPr id="3" name="Group 3"/>
          <p:cNvGrpSpPr/>
          <p:nvPr/>
        </p:nvGrpSpPr>
        <p:grpSpPr>
          <a:xfrm>
            <a:off x="0" y="0"/>
            <a:ext cx="18288000" cy="8816462"/>
            <a:chOff x="0" y="0"/>
            <a:chExt cx="4816593" cy="2322031"/>
          </a:xfrm>
        </p:grpSpPr>
        <p:sp>
          <p:nvSpPr>
            <p:cNvPr id="4" name="Freeform 4"/>
            <p:cNvSpPr/>
            <p:nvPr/>
          </p:nvSpPr>
          <p:spPr>
            <a:xfrm>
              <a:off x="0" y="0"/>
              <a:ext cx="4816592" cy="2322031"/>
            </a:xfrm>
            <a:custGeom>
              <a:avLst/>
              <a:gdLst/>
              <a:ahLst/>
              <a:cxnLst/>
              <a:rect l="l" t="t" r="r" b="b"/>
              <a:pathLst>
                <a:path w="4816592" h="2322031">
                  <a:moveTo>
                    <a:pt x="0" y="0"/>
                  </a:moveTo>
                  <a:lnTo>
                    <a:pt x="4816592" y="0"/>
                  </a:lnTo>
                  <a:lnTo>
                    <a:pt x="4816592" y="2322031"/>
                  </a:lnTo>
                  <a:lnTo>
                    <a:pt x="0" y="2322031"/>
                  </a:lnTo>
                  <a:close/>
                </a:path>
              </a:pathLst>
            </a:custGeom>
            <a:gradFill rotWithShape="1">
              <a:gsLst>
                <a:gs pos="0">
                  <a:srgbClr val="052839">
                    <a:alpha val="100000"/>
                  </a:srgbClr>
                </a:gs>
                <a:gs pos="100000">
                  <a:srgbClr val="0A5F87">
                    <a:alpha val="0"/>
                  </a:srgbClr>
                </a:gs>
              </a:gsLst>
              <a:lin ang="5400000"/>
            </a:gradFill>
          </p:spPr>
          <p:txBody>
            <a:bodyPr/>
            <a:lstStyle/>
            <a:p>
              <a:endParaRPr lang="pl-PL"/>
            </a:p>
          </p:txBody>
        </p:sp>
        <p:sp>
          <p:nvSpPr>
            <p:cNvPr id="5" name="TextBox 5"/>
            <p:cNvSpPr txBox="1"/>
            <p:nvPr/>
          </p:nvSpPr>
          <p:spPr>
            <a:xfrm>
              <a:off x="0" y="-38100"/>
              <a:ext cx="4816593" cy="236013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4998656" y="1204352"/>
            <a:ext cx="7792198" cy="7792198"/>
          </a:xfrm>
          <a:custGeom>
            <a:avLst/>
            <a:gdLst/>
            <a:ahLst/>
            <a:cxnLst/>
            <a:rect l="l" t="t" r="r" b="b"/>
            <a:pathLst>
              <a:path w="7792198" h="7792198">
                <a:moveTo>
                  <a:pt x="0" y="0"/>
                </a:moveTo>
                <a:lnTo>
                  <a:pt x="7792198" y="0"/>
                </a:lnTo>
                <a:lnTo>
                  <a:pt x="7792198" y="7792198"/>
                </a:lnTo>
                <a:lnTo>
                  <a:pt x="0" y="77921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l-PL"/>
          </a:p>
        </p:txBody>
      </p:sp>
      <p:sp>
        <p:nvSpPr>
          <p:cNvPr id="7" name="TextBox 7"/>
          <p:cNvSpPr txBox="1"/>
          <p:nvPr/>
        </p:nvSpPr>
        <p:spPr>
          <a:xfrm>
            <a:off x="1210905" y="3449424"/>
            <a:ext cx="15866189" cy="3511976"/>
          </a:xfrm>
          <a:prstGeom prst="rect">
            <a:avLst/>
          </a:prstGeom>
        </p:spPr>
        <p:txBody>
          <a:bodyPr lIns="0" tIns="0" rIns="0" bIns="0" rtlCol="0" anchor="t">
            <a:spAutoFit/>
          </a:bodyPr>
          <a:lstStyle/>
          <a:p>
            <a:pPr algn="ctr">
              <a:lnSpc>
                <a:spcPts val="5453"/>
              </a:lnSpc>
            </a:pPr>
            <a:r>
              <a:rPr lang="en-US" sz="5680" b="1" spc="-289">
                <a:solidFill>
                  <a:srgbClr val="FFFFFF"/>
                </a:solidFill>
                <a:latin typeface="Gotham Bold"/>
                <a:ea typeface="Gotham Bold"/>
                <a:cs typeface="Gotham Bold"/>
                <a:sym typeface="Gotham Bold"/>
              </a:rPr>
              <a:t>SYSTEM MONITOROWANIA RYNKU AKCJI I ETF-ÓW ORAZ WYKRYWANIA RYZYKOWNYCH ZDARZEŃ RYNKOWYCH W CZASIE ZBLIŻONYM DO RZECZYWISTEGO</a:t>
            </a:r>
          </a:p>
          <a:p>
            <a:pPr algn="ctr">
              <a:lnSpc>
                <a:spcPts val="5453"/>
              </a:lnSpc>
            </a:pPr>
            <a:endParaRPr lang="en-US" sz="5680" b="1" spc="-289">
              <a:solidFill>
                <a:srgbClr val="FFFFFF"/>
              </a:solidFill>
              <a:latin typeface="Gotham Bold"/>
              <a:ea typeface="Gotham Bold"/>
              <a:cs typeface="Gotham Bold"/>
              <a:sym typeface="Gotham Bold"/>
            </a:endParaRPr>
          </a:p>
        </p:txBody>
      </p:sp>
      <p:grpSp>
        <p:nvGrpSpPr>
          <p:cNvPr id="8" name="Group 8"/>
          <p:cNvGrpSpPr/>
          <p:nvPr/>
        </p:nvGrpSpPr>
        <p:grpSpPr>
          <a:xfrm>
            <a:off x="-211139" y="9468263"/>
            <a:ext cx="18710279" cy="1295036"/>
            <a:chOff x="0" y="0"/>
            <a:chExt cx="4927810" cy="341079"/>
          </a:xfrm>
        </p:grpSpPr>
        <p:sp>
          <p:nvSpPr>
            <p:cNvPr id="9" name="Freeform 9"/>
            <p:cNvSpPr/>
            <p:nvPr/>
          </p:nvSpPr>
          <p:spPr>
            <a:xfrm>
              <a:off x="0" y="0"/>
              <a:ext cx="4927810" cy="341079"/>
            </a:xfrm>
            <a:custGeom>
              <a:avLst/>
              <a:gdLst/>
              <a:ahLst/>
              <a:cxnLst/>
              <a:rect l="l" t="t" r="r" b="b"/>
              <a:pathLst>
                <a:path w="4927810" h="341079">
                  <a:moveTo>
                    <a:pt x="0" y="0"/>
                  </a:moveTo>
                  <a:lnTo>
                    <a:pt x="4927810" y="0"/>
                  </a:lnTo>
                  <a:lnTo>
                    <a:pt x="4927810" y="341079"/>
                  </a:lnTo>
                  <a:lnTo>
                    <a:pt x="0" y="341079"/>
                  </a:lnTo>
                  <a:close/>
                </a:path>
              </a:pathLst>
            </a:custGeom>
            <a:solidFill>
              <a:srgbClr val="04293C"/>
            </a:solidFill>
          </p:spPr>
          <p:txBody>
            <a:bodyPr/>
            <a:lstStyle/>
            <a:p>
              <a:endParaRPr lang="pl-PL"/>
            </a:p>
          </p:txBody>
        </p:sp>
        <p:sp>
          <p:nvSpPr>
            <p:cNvPr id="10" name="TextBox 10"/>
            <p:cNvSpPr txBox="1"/>
            <p:nvPr/>
          </p:nvSpPr>
          <p:spPr>
            <a:xfrm>
              <a:off x="0" y="-57150"/>
              <a:ext cx="4927810" cy="398229"/>
            </a:xfrm>
            <a:prstGeom prst="rect">
              <a:avLst/>
            </a:prstGeom>
          </p:spPr>
          <p:txBody>
            <a:bodyPr lIns="50800" tIns="50800" rIns="50800" bIns="50800" rtlCol="0" anchor="ctr"/>
            <a:lstStyle/>
            <a:p>
              <a:pPr algn="ctr">
                <a:lnSpc>
                  <a:spcPts val="2867"/>
                </a:lnSpc>
              </a:pPr>
              <a:endParaRPr/>
            </a:p>
          </p:txBody>
        </p:sp>
      </p:grpSp>
      <p:grpSp>
        <p:nvGrpSpPr>
          <p:cNvPr id="11" name="Group 11"/>
          <p:cNvGrpSpPr/>
          <p:nvPr/>
        </p:nvGrpSpPr>
        <p:grpSpPr>
          <a:xfrm rot="-2864482">
            <a:off x="16744950" y="9109479"/>
            <a:ext cx="3086100" cy="1549244"/>
            <a:chOff x="0" y="0"/>
            <a:chExt cx="812800" cy="408031"/>
          </a:xfrm>
        </p:grpSpPr>
        <p:sp>
          <p:nvSpPr>
            <p:cNvPr id="12" name="Freeform 12"/>
            <p:cNvSpPr/>
            <p:nvPr/>
          </p:nvSpPr>
          <p:spPr>
            <a:xfrm>
              <a:off x="0" y="0"/>
              <a:ext cx="812800" cy="408031"/>
            </a:xfrm>
            <a:custGeom>
              <a:avLst/>
              <a:gdLst/>
              <a:ahLst/>
              <a:cxnLst/>
              <a:rect l="l" t="t" r="r" b="b"/>
              <a:pathLst>
                <a:path w="812800" h="408031">
                  <a:moveTo>
                    <a:pt x="0" y="0"/>
                  </a:moveTo>
                  <a:lnTo>
                    <a:pt x="812800" y="0"/>
                  </a:lnTo>
                  <a:lnTo>
                    <a:pt x="812800" y="408031"/>
                  </a:lnTo>
                  <a:lnTo>
                    <a:pt x="0" y="408031"/>
                  </a:lnTo>
                  <a:close/>
                </a:path>
              </a:pathLst>
            </a:custGeom>
            <a:solidFill>
              <a:srgbClr val="FFFFFF"/>
            </a:solidFill>
          </p:spPr>
          <p:txBody>
            <a:bodyPr/>
            <a:lstStyle/>
            <a:p>
              <a:endParaRPr lang="pl-PL"/>
            </a:p>
          </p:txBody>
        </p:sp>
        <p:sp>
          <p:nvSpPr>
            <p:cNvPr id="13" name="TextBox 13"/>
            <p:cNvSpPr txBox="1"/>
            <p:nvPr/>
          </p:nvSpPr>
          <p:spPr>
            <a:xfrm>
              <a:off x="0" y="-57150"/>
              <a:ext cx="812800" cy="465181"/>
            </a:xfrm>
            <a:prstGeom prst="rect">
              <a:avLst/>
            </a:prstGeom>
          </p:spPr>
          <p:txBody>
            <a:bodyPr lIns="50800" tIns="50800" rIns="50800" bIns="50800" rtlCol="0" anchor="ctr"/>
            <a:lstStyle/>
            <a:p>
              <a:pPr algn="ctr">
                <a:lnSpc>
                  <a:spcPts val="2867"/>
                </a:lnSpc>
              </a:pPr>
              <a:endParaRPr/>
            </a:p>
          </p:txBody>
        </p:sp>
      </p:grpSp>
      <p:sp>
        <p:nvSpPr>
          <p:cNvPr id="14" name="TextBox 14"/>
          <p:cNvSpPr txBox="1"/>
          <p:nvPr/>
        </p:nvSpPr>
        <p:spPr>
          <a:xfrm>
            <a:off x="4573937" y="6904251"/>
            <a:ext cx="9140126" cy="2176823"/>
          </a:xfrm>
          <a:prstGeom prst="rect">
            <a:avLst/>
          </a:prstGeom>
        </p:spPr>
        <p:txBody>
          <a:bodyPr lIns="0" tIns="0" rIns="0" bIns="0" rtlCol="0" anchor="t">
            <a:spAutoFit/>
          </a:bodyPr>
          <a:lstStyle/>
          <a:p>
            <a:pPr algn="ctr">
              <a:lnSpc>
                <a:spcPts val="2867"/>
              </a:lnSpc>
            </a:pPr>
            <a:r>
              <a:rPr lang="en-US" sz="2048" spc="256">
                <a:solidFill>
                  <a:srgbClr val="FFFFFF"/>
                </a:solidFill>
                <a:latin typeface="Poppins"/>
                <a:ea typeface="Poppins"/>
                <a:cs typeface="Poppins"/>
                <a:sym typeface="Poppins"/>
              </a:rPr>
              <a:t>BARTOSZ KROP 121968</a:t>
            </a:r>
          </a:p>
          <a:p>
            <a:pPr algn="ctr">
              <a:lnSpc>
                <a:spcPts val="2867"/>
              </a:lnSpc>
            </a:pPr>
            <a:r>
              <a:rPr lang="en-US" sz="2048" spc="256">
                <a:solidFill>
                  <a:srgbClr val="FFFFFF"/>
                </a:solidFill>
                <a:latin typeface="Poppins"/>
                <a:ea typeface="Poppins"/>
                <a:cs typeface="Poppins"/>
                <a:sym typeface="Poppins"/>
              </a:rPr>
              <a:t>MICHAŁ GASIŃSKI 121389</a:t>
            </a:r>
          </a:p>
          <a:p>
            <a:pPr algn="ctr">
              <a:lnSpc>
                <a:spcPts val="2867"/>
              </a:lnSpc>
            </a:pPr>
            <a:r>
              <a:rPr lang="en-US" sz="2048" spc="256">
                <a:solidFill>
                  <a:srgbClr val="FFFFFF"/>
                </a:solidFill>
                <a:latin typeface="Poppins"/>
                <a:ea typeface="Poppins"/>
                <a:cs typeface="Poppins"/>
                <a:sym typeface="Poppins"/>
              </a:rPr>
              <a:t>KRZYSZTOF GOZDEK 121402</a:t>
            </a:r>
          </a:p>
          <a:p>
            <a:pPr algn="ctr">
              <a:lnSpc>
                <a:spcPts val="2867"/>
              </a:lnSpc>
            </a:pPr>
            <a:r>
              <a:rPr lang="en-US" sz="2048" spc="256">
                <a:solidFill>
                  <a:srgbClr val="FFFFFF"/>
                </a:solidFill>
                <a:latin typeface="Poppins"/>
                <a:ea typeface="Poppins"/>
                <a:cs typeface="Poppins"/>
                <a:sym typeface="Poppins"/>
              </a:rPr>
              <a:t>ALICJA RUDOWICZ 121870</a:t>
            </a:r>
          </a:p>
          <a:p>
            <a:pPr algn="ctr">
              <a:lnSpc>
                <a:spcPts val="2867"/>
              </a:lnSpc>
            </a:pPr>
            <a:r>
              <a:rPr lang="en-US" sz="2048" spc="256">
                <a:solidFill>
                  <a:srgbClr val="FFFFFF"/>
                </a:solidFill>
                <a:latin typeface="Poppins"/>
                <a:ea typeface="Poppins"/>
                <a:cs typeface="Poppins"/>
                <a:sym typeface="Poppins"/>
              </a:rPr>
              <a:t>DAWID WASIAK 121441</a:t>
            </a:r>
          </a:p>
          <a:p>
            <a:pPr algn="ctr">
              <a:lnSpc>
                <a:spcPts val="2867"/>
              </a:lnSpc>
            </a:pPr>
            <a:endParaRPr lang="en-US" sz="2048" spc="256">
              <a:solidFill>
                <a:srgbClr val="FFFFFF"/>
              </a:solidFill>
              <a:latin typeface="Poppins"/>
              <a:ea typeface="Poppins"/>
              <a:cs typeface="Poppins"/>
              <a:sym typeface="Poppins"/>
            </a:endParaRPr>
          </a:p>
        </p:txBody>
      </p:sp>
      <p:grpSp>
        <p:nvGrpSpPr>
          <p:cNvPr id="15" name="Group 15"/>
          <p:cNvGrpSpPr/>
          <p:nvPr/>
        </p:nvGrpSpPr>
        <p:grpSpPr>
          <a:xfrm rot="-2864482">
            <a:off x="-1319740" y="-735279"/>
            <a:ext cx="3086100" cy="1549244"/>
            <a:chOff x="0" y="0"/>
            <a:chExt cx="812800" cy="408031"/>
          </a:xfrm>
        </p:grpSpPr>
        <p:sp>
          <p:nvSpPr>
            <p:cNvPr id="16" name="Freeform 16"/>
            <p:cNvSpPr/>
            <p:nvPr/>
          </p:nvSpPr>
          <p:spPr>
            <a:xfrm>
              <a:off x="0" y="0"/>
              <a:ext cx="812800" cy="408031"/>
            </a:xfrm>
            <a:custGeom>
              <a:avLst/>
              <a:gdLst/>
              <a:ahLst/>
              <a:cxnLst/>
              <a:rect l="l" t="t" r="r" b="b"/>
              <a:pathLst>
                <a:path w="812800" h="408031">
                  <a:moveTo>
                    <a:pt x="0" y="0"/>
                  </a:moveTo>
                  <a:lnTo>
                    <a:pt x="812800" y="0"/>
                  </a:lnTo>
                  <a:lnTo>
                    <a:pt x="812800" y="408031"/>
                  </a:lnTo>
                  <a:lnTo>
                    <a:pt x="0" y="408031"/>
                  </a:lnTo>
                  <a:close/>
                </a:path>
              </a:pathLst>
            </a:custGeom>
            <a:solidFill>
              <a:srgbClr val="FFFFFF"/>
            </a:solidFill>
          </p:spPr>
          <p:txBody>
            <a:bodyPr/>
            <a:lstStyle/>
            <a:p>
              <a:endParaRPr lang="pl-PL"/>
            </a:p>
          </p:txBody>
        </p:sp>
        <p:sp>
          <p:nvSpPr>
            <p:cNvPr id="17" name="TextBox 17"/>
            <p:cNvSpPr txBox="1"/>
            <p:nvPr/>
          </p:nvSpPr>
          <p:spPr>
            <a:xfrm>
              <a:off x="0" y="-57150"/>
              <a:ext cx="812800" cy="465181"/>
            </a:xfrm>
            <a:prstGeom prst="rect">
              <a:avLst/>
            </a:prstGeom>
          </p:spPr>
          <p:txBody>
            <a:bodyPr lIns="50800" tIns="50800" rIns="50800" bIns="50800" rtlCol="0" anchor="ctr"/>
            <a:lstStyle/>
            <a:p>
              <a:pPr algn="ctr">
                <a:lnSpc>
                  <a:spcPts val="2867"/>
                </a:lnSpc>
              </a:pPr>
              <a:endParaRPr/>
            </a:p>
          </p:txBody>
        </p:sp>
      </p:grpSp>
      <p:grpSp>
        <p:nvGrpSpPr>
          <p:cNvPr id="18" name="Group 18"/>
          <p:cNvGrpSpPr/>
          <p:nvPr/>
        </p:nvGrpSpPr>
        <p:grpSpPr>
          <a:xfrm rot="-2864482">
            <a:off x="15157034" y="10164969"/>
            <a:ext cx="3086100" cy="94824"/>
            <a:chOff x="0" y="0"/>
            <a:chExt cx="812800" cy="24974"/>
          </a:xfrm>
        </p:grpSpPr>
        <p:sp>
          <p:nvSpPr>
            <p:cNvPr id="19" name="Freeform 19"/>
            <p:cNvSpPr/>
            <p:nvPr/>
          </p:nvSpPr>
          <p:spPr>
            <a:xfrm>
              <a:off x="0" y="0"/>
              <a:ext cx="812800" cy="24974"/>
            </a:xfrm>
            <a:custGeom>
              <a:avLst/>
              <a:gdLst/>
              <a:ahLst/>
              <a:cxnLst/>
              <a:rect l="l" t="t" r="r" b="b"/>
              <a:pathLst>
                <a:path w="812800" h="24974">
                  <a:moveTo>
                    <a:pt x="0" y="0"/>
                  </a:moveTo>
                  <a:lnTo>
                    <a:pt x="812800" y="0"/>
                  </a:lnTo>
                  <a:lnTo>
                    <a:pt x="812800" y="24974"/>
                  </a:lnTo>
                  <a:lnTo>
                    <a:pt x="0" y="24974"/>
                  </a:lnTo>
                  <a:close/>
                </a:path>
              </a:pathLst>
            </a:custGeom>
            <a:solidFill>
              <a:srgbClr val="FFFFFF"/>
            </a:solidFill>
          </p:spPr>
          <p:txBody>
            <a:bodyPr/>
            <a:lstStyle/>
            <a:p>
              <a:endParaRPr lang="pl-PL"/>
            </a:p>
          </p:txBody>
        </p:sp>
        <p:sp>
          <p:nvSpPr>
            <p:cNvPr id="20" name="TextBox 20"/>
            <p:cNvSpPr txBox="1"/>
            <p:nvPr/>
          </p:nvSpPr>
          <p:spPr>
            <a:xfrm>
              <a:off x="0" y="-57150"/>
              <a:ext cx="812800" cy="82124"/>
            </a:xfrm>
            <a:prstGeom prst="rect">
              <a:avLst/>
            </a:prstGeom>
          </p:spPr>
          <p:txBody>
            <a:bodyPr lIns="50800" tIns="50800" rIns="50800" bIns="50800" rtlCol="0" anchor="ctr"/>
            <a:lstStyle/>
            <a:p>
              <a:pPr algn="ctr">
                <a:lnSpc>
                  <a:spcPts val="2867"/>
                </a:lnSpc>
              </a:pPr>
              <a:endParaRPr/>
            </a:p>
          </p:txBody>
        </p:sp>
      </p:grpSp>
      <p:grpSp>
        <p:nvGrpSpPr>
          <p:cNvPr id="21" name="Group 21"/>
          <p:cNvGrpSpPr/>
          <p:nvPr/>
        </p:nvGrpSpPr>
        <p:grpSpPr>
          <a:xfrm rot="-2864482">
            <a:off x="-9351" y="-8069"/>
            <a:ext cx="3086100" cy="94824"/>
            <a:chOff x="0" y="0"/>
            <a:chExt cx="812800" cy="24974"/>
          </a:xfrm>
        </p:grpSpPr>
        <p:sp>
          <p:nvSpPr>
            <p:cNvPr id="22" name="Freeform 22"/>
            <p:cNvSpPr/>
            <p:nvPr/>
          </p:nvSpPr>
          <p:spPr>
            <a:xfrm>
              <a:off x="0" y="0"/>
              <a:ext cx="812800" cy="24974"/>
            </a:xfrm>
            <a:custGeom>
              <a:avLst/>
              <a:gdLst/>
              <a:ahLst/>
              <a:cxnLst/>
              <a:rect l="l" t="t" r="r" b="b"/>
              <a:pathLst>
                <a:path w="812800" h="24974">
                  <a:moveTo>
                    <a:pt x="0" y="0"/>
                  </a:moveTo>
                  <a:lnTo>
                    <a:pt x="812800" y="0"/>
                  </a:lnTo>
                  <a:lnTo>
                    <a:pt x="812800" y="24974"/>
                  </a:lnTo>
                  <a:lnTo>
                    <a:pt x="0" y="24974"/>
                  </a:lnTo>
                  <a:close/>
                </a:path>
              </a:pathLst>
            </a:custGeom>
            <a:solidFill>
              <a:srgbClr val="FFFFFF"/>
            </a:solidFill>
          </p:spPr>
          <p:txBody>
            <a:bodyPr/>
            <a:lstStyle/>
            <a:p>
              <a:endParaRPr lang="pl-PL"/>
            </a:p>
          </p:txBody>
        </p:sp>
        <p:sp>
          <p:nvSpPr>
            <p:cNvPr id="23" name="TextBox 23"/>
            <p:cNvSpPr txBox="1"/>
            <p:nvPr/>
          </p:nvSpPr>
          <p:spPr>
            <a:xfrm>
              <a:off x="0" y="-57150"/>
              <a:ext cx="812800" cy="82124"/>
            </a:xfrm>
            <a:prstGeom prst="rect">
              <a:avLst/>
            </a:prstGeom>
          </p:spPr>
          <p:txBody>
            <a:bodyPr lIns="50800" tIns="50800" rIns="50800" bIns="50800" rtlCol="0" anchor="ctr"/>
            <a:lstStyle/>
            <a:p>
              <a:pPr algn="ctr">
                <a:lnSpc>
                  <a:spcPts val="2867"/>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9593" y="-1860965"/>
            <a:ext cx="3620517" cy="13146547"/>
            <a:chOff x="0" y="0"/>
            <a:chExt cx="953552" cy="3462465"/>
          </a:xfrm>
        </p:grpSpPr>
        <p:sp>
          <p:nvSpPr>
            <p:cNvPr id="3" name="Freeform 3"/>
            <p:cNvSpPr/>
            <p:nvPr/>
          </p:nvSpPr>
          <p:spPr>
            <a:xfrm>
              <a:off x="0" y="0"/>
              <a:ext cx="953552" cy="3462465"/>
            </a:xfrm>
            <a:custGeom>
              <a:avLst/>
              <a:gdLst/>
              <a:ahLst/>
              <a:cxnLst/>
              <a:rect l="l" t="t" r="r" b="b"/>
              <a:pathLst>
                <a:path w="953552" h="3462465">
                  <a:moveTo>
                    <a:pt x="0" y="0"/>
                  </a:moveTo>
                  <a:lnTo>
                    <a:pt x="953552" y="0"/>
                  </a:lnTo>
                  <a:lnTo>
                    <a:pt x="953552"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953552" cy="3519615"/>
            </a:xfrm>
            <a:prstGeom prst="rect">
              <a:avLst/>
            </a:prstGeom>
          </p:spPr>
          <p:txBody>
            <a:bodyPr lIns="50800" tIns="50800" rIns="50800" bIns="50800" rtlCol="0" anchor="ctr"/>
            <a:lstStyle/>
            <a:p>
              <a:pPr algn="ctr">
                <a:lnSpc>
                  <a:spcPts val="2867"/>
                </a:lnSpc>
              </a:pPr>
              <a:endParaRPr/>
            </a:p>
          </p:txBody>
        </p:sp>
      </p:grpSp>
      <p:sp>
        <p:nvSpPr>
          <p:cNvPr id="5" name="TextBox 5"/>
          <p:cNvSpPr txBox="1"/>
          <p:nvPr/>
        </p:nvSpPr>
        <p:spPr>
          <a:xfrm>
            <a:off x="3985442" y="827202"/>
            <a:ext cx="9829798" cy="11779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AGENDA</a:t>
            </a:r>
          </a:p>
        </p:txBody>
      </p:sp>
      <p:sp>
        <p:nvSpPr>
          <p:cNvPr id="6" name="TextBox 6"/>
          <p:cNvSpPr txBox="1"/>
          <p:nvPr/>
        </p:nvSpPr>
        <p:spPr>
          <a:xfrm>
            <a:off x="3985442" y="2596691"/>
            <a:ext cx="13431812" cy="6641747"/>
          </a:xfrm>
          <a:prstGeom prst="rect">
            <a:avLst/>
          </a:prstGeom>
        </p:spPr>
        <p:txBody>
          <a:bodyPr lIns="0" tIns="0" rIns="0" bIns="0" rtlCol="0" anchor="t">
            <a:spAutoFit/>
          </a:bodyPr>
          <a:lstStyle/>
          <a:p>
            <a:pPr algn="l">
              <a:lnSpc>
                <a:spcPts val="7574"/>
              </a:lnSpc>
            </a:pPr>
            <a:r>
              <a:rPr lang="en-US" sz="4455" dirty="0">
                <a:solidFill>
                  <a:srgbClr val="170B04">
                    <a:alpha val="71765"/>
                  </a:srgbClr>
                </a:solidFill>
                <a:latin typeface="Poppins"/>
                <a:ea typeface="Poppins"/>
                <a:cs typeface="Poppins"/>
                <a:sym typeface="Poppins"/>
              </a:rPr>
              <a:t>1.Cel </a:t>
            </a:r>
            <a:r>
              <a:rPr lang="en-US" sz="4455" dirty="0" err="1">
                <a:solidFill>
                  <a:srgbClr val="170B04">
                    <a:alpha val="71765"/>
                  </a:srgbClr>
                </a:solidFill>
                <a:latin typeface="Poppins"/>
                <a:ea typeface="Poppins"/>
                <a:cs typeface="Poppins"/>
                <a:sym typeface="Poppins"/>
              </a:rPr>
              <a:t>i</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założenia</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systemu</a:t>
            </a:r>
            <a:endParaRPr lang="en-US" sz="4455" dirty="0">
              <a:solidFill>
                <a:srgbClr val="170B04">
                  <a:alpha val="71765"/>
                </a:srgbClr>
              </a:solidFill>
              <a:latin typeface="Poppins"/>
              <a:ea typeface="Poppins"/>
              <a:cs typeface="Poppins"/>
              <a:sym typeface="Poppins"/>
            </a:endParaRPr>
          </a:p>
          <a:p>
            <a:pPr algn="l">
              <a:lnSpc>
                <a:spcPts val="7574"/>
              </a:lnSpc>
            </a:pPr>
            <a:r>
              <a:rPr lang="en-US" sz="4455" dirty="0">
                <a:solidFill>
                  <a:srgbClr val="170B04">
                    <a:alpha val="71765"/>
                  </a:srgbClr>
                </a:solidFill>
                <a:latin typeface="Poppins"/>
                <a:ea typeface="Poppins"/>
                <a:cs typeface="Poppins"/>
                <a:sym typeface="Poppins"/>
              </a:rPr>
              <a:t>2. Wybór </a:t>
            </a:r>
            <a:r>
              <a:rPr lang="en-US" sz="4455" dirty="0" err="1">
                <a:solidFill>
                  <a:srgbClr val="170B04">
                    <a:alpha val="71765"/>
                  </a:srgbClr>
                </a:solidFill>
                <a:latin typeface="Poppins"/>
                <a:ea typeface="Poppins"/>
                <a:cs typeface="Poppins"/>
                <a:sym typeface="Poppins"/>
              </a:rPr>
              <a:t>monitorowanych</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instrumentów</a:t>
            </a:r>
            <a:endParaRPr lang="en-US" sz="4455" dirty="0">
              <a:solidFill>
                <a:srgbClr val="170B04">
                  <a:alpha val="71765"/>
                </a:srgbClr>
              </a:solidFill>
              <a:latin typeface="Poppins"/>
              <a:ea typeface="Poppins"/>
              <a:cs typeface="Poppins"/>
              <a:sym typeface="Poppins"/>
            </a:endParaRPr>
          </a:p>
          <a:p>
            <a:pPr algn="l">
              <a:lnSpc>
                <a:spcPts val="7574"/>
              </a:lnSpc>
            </a:pPr>
            <a:r>
              <a:rPr lang="en-US" sz="4455" dirty="0">
                <a:solidFill>
                  <a:srgbClr val="170B04">
                    <a:alpha val="71765"/>
                  </a:srgbClr>
                </a:solidFill>
                <a:latin typeface="Poppins"/>
                <a:ea typeface="Poppins"/>
                <a:cs typeface="Poppins"/>
                <a:sym typeface="Poppins"/>
              </a:rPr>
              <a:t>3. </a:t>
            </a:r>
            <a:r>
              <a:rPr lang="en-US" sz="4455" dirty="0" err="1">
                <a:solidFill>
                  <a:srgbClr val="170B04">
                    <a:alpha val="71765"/>
                  </a:srgbClr>
                </a:solidFill>
                <a:latin typeface="Poppins"/>
                <a:ea typeface="Poppins"/>
                <a:cs typeface="Poppins"/>
                <a:sym typeface="Poppins"/>
              </a:rPr>
              <a:t>Źródło</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i</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zasilanie</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danymi</a:t>
            </a:r>
            <a:r>
              <a:rPr lang="en-US" sz="4455" dirty="0">
                <a:solidFill>
                  <a:srgbClr val="170B04">
                    <a:alpha val="71765"/>
                  </a:srgbClr>
                </a:solidFill>
                <a:latin typeface="Poppins"/>
                <a:ea typeface="Poppins"/>
                <a:cs typeface="Poppins"/>
                <a:sym typeface="Poppins"/>
              </a:rPr>
              <a:t> </a:t>
            </a:r>
          </a:p>
          <a:p>
            <a:pPr algn="l">
              <a:lnSpc>
                <a:spcPts val="7574"/>
              </a:lnSpc>
            </a:pPr>
            <a:r>
              <a:rPr lang="en-US" sz="4455" dirty="0">
                <a:solidFill>
                  <a:srgbClr val="170B04">
                    <a:alpha val="71765"/>
                  </a:srgbClr>
                </a:solidFill>
                <a:latin typeface="Poppins"/>
                <a:ea typeface="Poppins"/>
                <a:cs typeface="Poppins"/>
                <a:sym typeface="Poppins"/>
              </a:rPr>
              <a:t>4. </a:t>
            </a:r>
            <a:r>
              <a:rPr lang="en-US" sz="4455" dirty="0" err="1">
                <a:solidFill>
                  <a:srgbClr val="170B04">
                    <a:alpha val="71765"/>
                  </a:srgbClr>
                </a:solidFill>
                <a:latin typeface="Poppins"/>
                <a:ea typeface="Poppins"/>
                <a:cs typeface="Poppins"/>
                <a:sym typeface="Poppins"/>
              </a:rPr>
              <a:t>Scentralizowany</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silnik</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oceny</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ryzyka</a:t>
            </a:r>
            <a:endParaRPr lang="en-US" sz="4455" dirty="0">
              <a:solidFill>
                <a:srgbClr val="170B04">
                  <a:alpha val="71765"/>
                </a:srgbClr>
              </a:solidFill>
              <a:latin typeface="Poppins"/>
              <a:ea typeface="Poppins"/>
              <a:cs typeface="Poppins"/>
              <a:sym typeface="Poppins"/>
            </a:endParaRPr>
          </a:p>
          <a:p>
            <a:pPr algn="l">
              <a:lnSpc>
                <a:spcPts val="7574"/>
              </a:lnSpc>
            </a:pPr>
            <a:r>
              <a:rPr lang="en-US" sz="4455" dirty="0">
                <a:solidFill>
                  <a:srgbClr val="170B04">
                    <a:alpha val="71765"/>
                  </a:srgbClr>
                </a:solidFill>
                <a:latin typeface="Poppins"/>
                <a:ea typeface="Poppins"/>
                <a:cs typeface="Poppins"/>
                <a:sym typeface="Poppins"/>
              </a:rPr>
              <a:t>5. </a:t>
            </a:r>
            <a:r>
              <a:rPr lang="en-US" sz="4455" dirty="0" err="1">
                <a:solidFill>
                  <a:srgbClr val="170B04">
                    <a:alpha val="71765"/>
                  </a:srgbClr>
                </a:solidFill>
                <a:latin typeface="Poppins"/>
                <a:ea typeface="Poppins"/>
                <a:cs typeface="Poppins"/>
                <a:sym typeface="Poppins"/>
              </a:rPr>
              <a:t>Konsola</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analityczna</a:t>
            </a:r>
            <a:r>
              <a:rPr lang="en-US" sz="4455" dirty="0">
                <a:solidFill>
                  <a:srgbClr val="170B04">
                    <a:alpha val="71765"/>
                  </a:srgbClr>
                </a:solidFill>
                <a:latin typeface="Poppins"/>
                <a:ea typeface="Poppins"/>
                <a:cs typeface="Poppins"/>
                <a:sym typeface="Poppins"/>
              </a:rPr>
              <a:t> </a:t>
            </a:r>
            <a:r>
              <a:rPr lang="en-US" sz="4455" dirty="0" err="1">
                <a:solidFill>
                  <a:srgbClr val="170B04">
                    <a:alpha val="71765"/>
                  </a:srgbClr>
                </a:solidFill>
                <a:latin typeface="Poppins"/>
                <a:ea typeface="Poppins"/>
                <a:cs typeface="Poppins"/>
                <a:sym typeface="Poppins"/>
              </a:rPr>
              <a:t>i</a:t>
            </a:r>
            <a:r>
              <a:rPr lang="en-US" sz="4455" dirty="0">
                <a:solidFill>
                  <a:srgbClr val="170B04">
                    <a:alpha val="71765"/>
                  </a:srgbClr>
                </a:solidFill>
                <a:latin typeface="Poppins"/>
                <a:ea typeface="Poppins"/>
                <a:cs typeface="Poppins"/>
                <a:sym typeface="Poppins"/>
              </a:rPr>
              <a:t> system </a:t>
            </a:r>
            <a:r>
              <a:rPr lang="en-US" sz="4455" dirty="0" err="1">
                <a:solidFill>
                  <a:srgbClr val="170B04">
                    <a:alpha val="71765"/>
                  </a:srgbClr>
                </a:solidFill>
                <a:latin typeface="Poppins"/>
                <a:ea typeface="Poppins"/>
                <a:cs typeface="Poppins"/>
                <a:sym typeface="Poppins"/>
              </a:rPr>
              <a:t>alertów</a:t>
            </a:r>
            <a:endParaRPr lang="en-US" sz="4455" dirty="0">
              <a:solidFill>
                <a:srgbClr val="170B04">
                  <a:alpha val="71765"/>
                </a:srgbClr>
              </a:solidFill>
              <a:latin typeface="Poppins"/>
              <a:ea typeface="Poppins"/>
              <a:cs typeface="Poppins"/>
              <a:sym typeface="Poppins"/>
            </a:endParaRPr>
          </a:p>
          <a:p>
            <a:pPr algn="l">
              <a:lnSpc>
                <a:spcPts val="7574"/>
              </a:lnSpc>
              <a:spcBef>
                <a:spcPct val="0"/>
              </a:spcBef>
            </a:pPr>
            <a:endParaRPr lang="en-US" sz="4455" dirty="0">
              <a:solidFill>
                <a:srgbClr val="170B04">
                  <a:alpha val="71765"/>
                </a:srgbClr>
              </a:solidFill>
              <a:latin typeface="Poppins"/>
              <a:ea typeface="Poppins"/>
              <a:cs typeface="Poppins"/>
              <a:sym typeface="Poppins"/>
            </a:endParaRPr>
          </a:p>
          <a:p>
            <a:pPr marL="0" lvl="0" indent="0" algn="l">
              <a:lnSpc>
                <a:spcPts val="7574"/>
              </a:lnSpc>
              <a:spcBef>
                <a:spcPct val="0"/>
              </a:spcBef>
            </a:pPr>
            <a:endParaRPr lang="en-US" sz="4455" dirty="0">
              <a:solidFill>
                <a:srgbClr val="170B04">
                  <a:alpha val="71765"/>
                </a:srgbClr>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145377" y="-1429773"/>
            <a:ext cx="3620517" cy="13146547"/>
            <a:chOff x="0" y="0"/>
            <a:chExt cx="953552" cy="3462465"/>
          </a:xfrm>
        </p:grpSpPr>
        <p:sp>
          <p:nvSpPr>
            <p:cNvPr id="3" name="Freeform 3"/>
            <p:cNvSpPr/>
            <p:nvPr/>
          </p:nvSpPr>
          <p:spPr>
            <a:xfrm>
              <a:off x="0" y="0"/>
              <a:ext cx="953552" cy="3462465"/>
            </a:xfrm>
            <a:custGeom>
              <a:avLst/>
              <a:gdLst/>
              <a:ahLst/>
              <a:cxnLst/>
              <a:rect l="l" t="t" r="r" b="b"/>
              <a:pathLst>
                <a:path w="953552" h="3462465">
                  <a:moveTo>
                    <a:pt x="0" y="0"/>
                  </a:moveTo>
                  <a:lnTo>
                    <a:pt x="953552" y="0"/>
                  </a:lnTo>
                  <a:lnTo>
                    <a:pt x="953552"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953552" cy="3519615"/>
            </a:xfrm>
            <a:prstGeom prst="rect">
              <a:avLst/>
            </a:prstGeom>
          </p:spPr>
          <p:txBody>
            <a:bodyPr lIns="50800" tIns="50800" rIns="50800" bIns="50800" rtlCol="0" anchor="ctr"/>
            <a:lstStyle/>
            <a:p>
              <a:pPr algn="ctr">
                <a:lnSpc>
                  <a:spcPts val="2867"/>
                </a:lnSpc>
              </a:pPr>
              <a:endParaRPr/>
            </a:p>
          </p:txBody>
        </p:sp>
      </p:grpSp>
      <p:sp>
        <p:nvSpPr>
          <p:cNvPr id="5" name="TextBox 5"/>
          <p:cNvSpPr txBox="1"/>
          <p:nvPr/>
        </p:nvSpPr>
        <p:spPr>
          <a:xfrm>
            <a:off x="1028700" y="539741"/>
            <a:ext cx="9829798" cy="11779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CEL PROJEKTU</a:t>
            </a:r>
          </a:p>
        </p:txBody>
      </p:sp>
      <p:sp>
        <p:nvSpPr>
          <p:cNvPr id="6" name="TextBox 6"/>
          <p:cNvSpPr txBox="1"/>
          <p:nvPr/>
        </p:nvSpPr>
        <p:spPr>
          <a:xfrm>
            <a:off x="1028700" y="2601221"/>
            <a:ext cx="13431812" cy="5120578"/>
          </a:xfrm>
          <a:prstGeom prst="rect">
            <a:avLst/>
          </a:prstGeom>
        </p:spPr>
        <p:txBody>
          <a:bodyPr lIns="0" tIns="0" rIns="0" bIns="0" rtlCol="0" anchor="t">
            <a:spAutoFit/>
          </a:bodyPr>
          <a:lstStyle/>
          <a:p>
            <a:pPr marL="465398" lvl="1" indent="-232699" algn="l">
              <a:lnSpc>
                <a:spcPts val="4117"/>
              </a:lnSpc>
              <a:buFont typeface="Arial"/>
              <a:buChar char="•"/>
            </a:pPr>
            <a:r>
              <a:rPr lang="en-US" sz="2155" dirty="0" err="1">
                <a:solidFill>
                  <a:srgbClr val="170B04">
                    <a:alpha val="71765"/>
                  </a:srgbClr>
                </a:solidFill>
                <a:latin typeface="Poppins"/>
                <a:ea typeface="Poppins"/>
                <a:cs typeface="Poppins"/>
                <a:sym typeface="Poppins"/>
              </a:rPr>
              <a:t>Automatyzacja</a:t>
            </a:r>
            <a:r>
              <a:rPr lang="en-US" sz="2155" dirty="0">
                <a:solidFill>
                  <a:srgbClr val="170B04">
                    <a:alpha val="71765"/>
                  </a:srgbClr>
                </a:solidFill>
                <a:latin typeface="Poppins"/>
                <a:ea typeface="Poppins"/>
                <a:cs typeface="Poppins"/>
                <a:sym typeface="Poppins"/>
              </a:rPr>
              <a:t> </a:t>
            </a:r>
            <a:r>
              <a:rPr lang="en-US" sz="2155" dirty="0" err="1">
                <a:solidFill>
                  <a:srgbClr val="170B04">
                    <a:alpha val="71765"/>
                  </a:srgbClr>
                </a:solidFill>
                <a:latin typeface="Poppins"/>
                <a:ea typeface="Poppins"/>
                <a:cs typeface="Poppins"/>
                <a:sym typeface="Poppins"/>
              </a:rPr>
              <a:t>mo</a:t>
            </a:r>
            <a:r>
              <a:rPr lang="en-US" sz="2155" u="none" strike="noStrike" dirty="0" err="1">
                <a:solidFill>
                  <a:srgbClr val="170B04">
                    <a:alpha val="71765"/>
                  </a:srgbClr>
                </a:solidFill>
                <a:latin typeface="Poppins"/>
                <a:ea typeface="Poppins"/>
                <a:cs typeface="Poppins"/>
                <a:sym typeface="Poppins"/>
              </a:rPr>
              <a:t>nitoringu</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Stworzenie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systemu</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przetwarzania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danych</a:t>
            </a:r>
            <a:r>
              <a:rPr lang="en-US" sz="2155" u="none" strike="noStrike" dirty="0">
                <a:solidFill>
                  <a:srgbClr val="170B04">
                    <a:alpha val="71765"/>
                  </a:srgbClr>
                </a:solidFill>
                <a:latin typeface="Poppins"/>
                <a:ea typeface="Poppins"/>
                <a:cs typeface="Poppins"/>
                <a:sym typeface="Poppins"/>
              </a:rPr>
              <a:t> w </a:t>
            </a:r>
            <a:r>
              <a:rPr lang="en-US" sz="2155" u="none" strike="noStrike" dirty="0" err="1">
                <a:solidFill>
                  <a:srgbClr val="170B04">
                    <a:alpha val="71765"/>
                  </a:srgbClr>
                </a:solidFill>
                <a:latin typeface="Poppins"/>
                <a:ea typeface="Poppins"/>
                <a:cs typeface="Poppins"/>
                <a:sym typeface="Poppins"/>
              </a:rPr>
              <a:t>czasie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zbliżonym</a:t>
            </a:r>
            <a:r>
              <a:rPr lang="en-US" sz="2155" u="none" strike="noStrike" dirty="0">
                <a:solidFill>
                  <a:srgbClr val="170B04">
                    <a:alpha val="71765"/>
                  </a:srgbClr>
                </a:solidFill>
                <a:latin typeface="Poppins"/>
                <a:ea typeface="Poppins"/>
                <a:cs typeface="Poppins"/>
                <a:sym typeface="Poppins"/>
              </a:rPr>
              <a:t> do </a:t>
            </a:r>
            <a:r>
              <a:rPr lang="en-US" sz="2155" u="none" strike="noStrike" dirty="0" err="1">
                <a:solidFill>
                  <a:srgbClr val="170B04">
                    <a:alpha val="71765"/>
                  </a:srgbClr>
                </a:solidFill>
                <a:latin typeface="Poppins"/>
                <a:ea typeface="Poppins"/>
                <a:cs typeface="Poppins"/>
                <a:sym typeface="Poppins"/>
              </a:rPr>
              <a:t>rzeczywistego</a:t>
            </a:r>
            <a:r>
              <a:rPr lang="en-US" sz="2155" u="none" strike="noStrike" dirty="0">
                <a:solidFill>
                  <a:srgbClr val="170B04">
                    <a:alpha val="71765"/>
                  </a:srgbClr>
                </a:solidFill>
                <a:latin typeface="Poppins"/>
                <a:ea typeface="Poppins"/>
                <a:cs typeface="Poppins"/>
                <a:sym typeface="Poppins"/>
              </a:rPr>
              <a:t> (Near Real-Time), </a:t>
            </a:r>
            <a:r>
              <a:rPr lang="en-US" sz="2155" u="none" strike="noStrike" dirty="0" err="1">
                <a:solidFill>
                  <a:srgbClr val="170B04">
                    <a:alpha val="71765"/>
                  </a:srgbClr>
                </a:solidFill>
                <a:latin typeface="Poppins"/>
                <a:ea typeface="Poppins"/>
                <a:cs typeface="Poppins"/>
                <a:sym typeface="Poppins"/>
              </a:rPr>
              <a:t>operującego</a:t>
            </a:r>
            <a:r>
              <a:rPr lang="en-US" sz="2155" u="none" strike="noStrike" dirty="0">
                <a:solidFill>
                  <a:srgbClr val="170B04">
                    <a:alpha val="71765"/>
                  </a:srgbClr>
                </a:solidFill>
                <a:latin typeface="Poppins"/>
                <a:ea typeface="Poppins"/>
                <a:cs typeface="Poppins"/>
                <a:sym typeface="Poppins"/>
              </a:rPr>
              <a:t> w 30-sekundowych </a:t>
            </a:r>
            <a:r>
              <a:rPr lang="en-US" sz="2155" u="none" strike="noStrike" dirty="0" err="1">
                <a:solidFill>
                  <a:srgbClr val="170B04">
                    <a:alpha val="71765"/>
                  </a:srgbClr>
                </a:solidFill>
                <a:latin typeface="Poppins"/>
                <a:ea typeface="Poppins"/>
                <a:cs typeface="Poppins"/>
                <a:sym typeface="Poppins"/>
              </a:rPr>
              <a:t>cyklach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dla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instrumentów</a:t>
            </a:r>
            <a:r>
              <a:rPr lang="en-US" sz="2155" u="none" strike="noStrike" dirty="0">
                <a:solidFill>
                  <a:srgbClr val="170B04">
                    <a:alpha val="71765"/>
                  </a:srgbClr>
                </a:solidFill>
                <a:latin typeface="Poppins"/>
                <a:ea typeface="Poppins"/>
                <a:cs typeface="Poppins"/>
                <a:sym typeface="Poppins"/>
              </a:rPr>
              <a:t> SPY, QQQ </a:t>
            </a:r>
            <a:r>
              <a:rPr lang="en-US" sz="2155" u="none" strike="noStrike" dirty="0" err="1">
                <a:solidFill>
                  <a:srgbClr val="170B04">
                    <a:alpha val="71765"/>
                  </a:srgbClr>
                </a:solidFill>
                <a:latin typeface="Poppins"/>
                <a:ea typeface="Poppins"/>
                <a:cs typeface="Poppins"/>
                <a:sym typeface="Poppins"/>
              </a:rPr>
              <a:t>oraz</a:t>
            </a:r>
            <a:r>
              <a:rPr lang="en-US" sz="2155" u="none" strike="noStrike" dirty="0">
                <a:solidFill>
                  <a:srgbClr val="170B04">
                    <a:alpha val="71765"/>
                  </a:srgbClr>
                </a:solidFill>
                <a:latin typeface="Poppins"/>
                <a:ea typeface="Poppins"/>
                <a:cs typeface="Poppins"/>
                <a:sym typeface="Poppins"/>
              </a:rPr>
              <a:t> NVDA.</a:t>
            </a:r>
          </a:p>
          <a:p>
            <a:pPr marL="465398" lvl="1" indent="-232699" algn="l">
              <a:lnSpc>
                <a:spcPts val="4117"/>
              </a:lnSpc>
              <a:buFont typeface="Arial"/>
              <a:buChar char="•"/>
            </a:pPr>
            <a:r>
              <a:rPr lang="en-US" sz="2155" u="none" strike="noStrike" dirty="0" err="1">
                <a:solidFill>
                  <a:srgbClr val="170B04">
                    <a:alpha val="71765"/>
                  </a:srgbClr>
                </a:solidFill>
                <a:latin typeface="Poppins"/>
                <a:ea typeface="Poppins"/>
                <a:cs typeface="Poppins"/>
                <a:sym typeface="Poppins"/>
              </a:rPr>
              <a:t>Identyfikacja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potencjalnych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anomalii</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Automatyczne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wskazywanie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zdarzeń</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odbiegających</a:t>
            </a:r>
            <a:r>
              <a:rPr lang="en-US" sz="2155" u="none" strike="noStrike" dirty="0">
                <a:solidFill>
                  <a:srgbClr val="170B04">
                    <a:alpha val="71765"/>
                  </a:srgbClr>
                </a:solidFill>
                <a:latin typeface="Poppins"/>
                <a:ea typeface="Poppins"/>
                <a:cs typeface="Poppins"/>
                <a:sym typeface="Poppins"/>
              </a:rPr>
              <a:t> od </a:t>
            </a:r>
            <a:r>
              <a:rPr lang="en-US" sz="2155" u="none" strike="noStrike" dirty="0" err="1">
                <a:solidFill>
                  <a:srgbClr val="170B04">
                    <a:alpha val="71765"/>
                  </a:srgbClr>
                </a:solidFill>
                <a:latin typeface="Poppins"/>
                <a:ea typeface="Poppins"/>
                <a:cs typeface="Poppins"/>
                <a:sym typeface="Poppins"/>
              </a:rPr>
              <a:t>standardowych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wahań</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rynkowych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na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podstawie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kryteriów</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cenowo-wolumenowych</a:t>
            </a:r>
            <a:r>
              <a:rPr lang="en-US" sz="2155" u="none" strike="noStrike" dirty="0">
                <a:solidFill>
                  <a:srgbClr val="170B04">
                    <a:alpha val="71765"/>
                  </a:srgbClr>
                </a:solidFill>
                <a:latin typeface="Poppins"/>
                <a:ea typeface="Poppins"/>
                <a:cs typeface="Poppins"/>
                <a:sym typeface="Poppins"/>
              </a:rPr>
              <a:t>.</a:t>
            </a:r>
          </a:p>
          <a:p>
            <a:pPr marL="465398" lvl="1" indent="-232699" algn="l">
              <a:lnSpc>
                <a:spcPts val="4117"/>
              </a:lnSpc>
              <a:buFont typeface="Arial"/>
              <a:buChar char="•"/>
            </a:pPr>
            <a:r>
              <a:rPr lang="en-US" sz="2155" u="none" strike="noStrike" dirty="0" err="1">
                <a:solidFill>
                  <a:srgbClr val="170B04">
                    <a:alpha val="71765"/>
                  </a:srgbClr>
                </a:solidFill>
                <a:latin typeface="Poppins"/>
                <a:ea typeface="Poppins"/>
                <a:cs typeface="Poppins"/>
                <a:sym typeface="Poppins"/>
              </a:rPr>
              <a:t>Wielopoziomowa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klasyfikacja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ryzyka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Natychmiastowe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przypisywanie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stanów</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zagrożenia</a:t>
            </a:r>
            <a:r>
              <a:rPr lang="en-US" sz="2155" u="none" strike="noStrike" dirty="0">
                <a:solidFill>
                  <a:srgbClr val="170B04">
                    <a:alpha val="71765"/>
                  </a:srgbClr>
                </a:solidFill>
                <a:latin typeface="Poppins"/>
                <a:ea typeface="Poppins"/>
                <a:cs typeface="Poppins"/>
                <a:sym typeface="Poppins"/>
              </a:rPr>
              <a:t> (od LOW do CRITICAL) </a:t>
            </a:r>
            <a:r>
              <a:rPr lang="en-US" sz="2155" u="none" strike="noStrike" dirty="0" err="1">
                <a:solidFill>
                  <a:srgbClr val="170B04">
                    <a:alpha val="71765"/>
                  </a:srgbClr>
                </a:solidFill>
                <a:latin typeface="Poppins"/>
                <a:ea typeface="Poppins"/>
                <a:cs typeface="Poppins"/>
                <a:sym typeface="Poppins"/>
              </a:rPr>
              <a:t>przy</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użyciu</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scentralizowanego</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silnika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regułowego</a:t>
            </a:r>
            <a:r>
              <a:rPr lang="en-US" sz="2155" u="none" strike="noStrike" dirty="0">
                <a:solidFill>
                  <a:srgbClr val="170B04">
                    <a:alpha val="71765"/>
                  </a:srgbClr>
                </a:solidFill>
                <a:latin typeface="Poppins"/>
                <a:ea typeface="Poppins"/>
                <a:cs typeface="Poppins"/>
                <a:sym typeface="Poppins"/>
              </a:rPr>
              <a:t> (Scoring API).</a:t>
            </a:r>
          </a:p>
          <a:p>
            <a:pPr marL="465398" lvl="1" indent="-232699" algn="l">
              <a:lnSpc>
                <a:spcPts val="4117"/>
              </a:lnSpc>
              <a:buFont typeface="Arial"/>
              <a:buChar char="•"/>
            </a:pPr>
            <a:r>
              <a:rPr lang="en-US" sz="2155" u="none" strike="noStrike" dirty="0">
                <a:solidFill>
                  <a:srgbClr val="170B04">
                    <a:alpha val="71765"/>
                  </a:srgbClr>
                </a:solidFill>
                <a:latin typeface="Poppins"/>
                <a:ea typeface="Poppins"/>
                <a:cs typeface="Poppins"/>
                <a:sym typeface="Poppins"/>
              </a:rPr>
              <a:t>Test </a:t>
            </a:r>
            <a:r>
              <a:rPr lang="en-US" sz="2155" u="none" strike="noStrike" dirty="0" err="1">
                <a:solidFill>
                  <a:srgbClr val="170B04">
                    <a:alpha val="71765"/>
                  </a:srgbClr>
                </a:solidFill>
                <a:latin typeface="Poppins"/>
                <a:ea typeface="Poppins"/>
                <a:cs typeface="Poppins"/>
                <a:sym typeface="Poppins"/>
              </a:rPr>
              <a:t>na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instrumentach</a:t>
            </a:r>
            <a:r>
              <a:rPr lang="en-US" sz="2155" u="none" strike="noStrike" dirty="0">
                <a:solidFill>
                  <a:srgbClr val="170B04">
                    <a:alpha val="71765"/>
                  </a:srgbClr>
                </a:solidFill>
                <a:latin typeface="Poppins"/>
                <a:ea typeface="Poppins"/>
                <a:cs typeface="Poppins"/>
                <a:sym typeface="Poppins"/>
              </a:rPr>
              <a:t> o </a:t>
            </a:r>
            <a:r>
              <a:rPr lang="en-US" sz="2155" u="none" strike="noStrike" dirty="0" err="1">
                <a:solidFill>
                  <a:srgbClr val="170B04">
                    <a:alpha val="71765"/>
                  </a:srgbClr>
                </a:solidFill>
                <a:latin typeface="Poppins"/>
                <a:ea typeface="Poppins"/>
                <a:cs typeface="Poppins"/>
                <a:sym typeface="Poppins"/>
              </a:rPr>
              <a:t>różnych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profilach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Sprawdzenie</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działania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systemu</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na</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dwóch</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funduszach</a:t>
            </a:r>
            <a:r>
              <a:rPr lang="en-US" sz="2155" u="none" strike="noStrike" dirty="0">
                <a:solidFill>
                  <a:srgbClr val="170B04">
                    <a:alpha val="71765"/>
                  </a:srgbClr>
                </a:solidFill>
                <a:latin typeface="Poppins"/>
                <a:ea typeface="Poppins"/>
                <a:cs typeface="Poppins"/>
                <a:sym typeface="Poppins"/>
              </a:rPr>
              <a:t> ETF </a:t>
            </a:r>
            <a:r>
              <a:rPr lang="en-US" sz="2155" u="none" strike="noStrike" dirty="0" err="1">
                <a:solidFill>
                  <a:srgbClr val="170B04">
                    <a:alpha val="71765"/>
                  </a:srgbClr>
                </a:solidFill>
                <a:latin typeface="Poppins"/>
                <a:ea typeface="Poppins"/>
                <a:cs typeface="Poppins"/>
                <a:sym typeface="Poppins"/>
              </a:rPr>
              <a:t>oraz</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jednej</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akcji</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technologicznej</a:t>
            </a:r>
            <a:r>
              <a:rPr lang="en-US" sz="2155" u="none" strike="noStrike" dirty="0">
                <a:solidFill>
                  <a:srgbClr val="170B04">
                    <a:alpha val="71765"/>
                  </a:srgbClr>
                </a:solidFill>
                <a:latin typeface="Poppins"/>
                <a:ea typeface="Poppins"/>
                <a:cs typeface="Poppins"/>
                <a:sym typeface="Poppins"/>
              </a:rPr>
              <a:t> o </a:t>
            </a:r>
            <a:r>
              <a:rPr lang="en-US" sz="2155" u="none" strike="noStrike" dirty="0" err="1">
                <a:solidFill>
                  <a:srgbClr val="170B04">
                    <a:alpha val="71765"/>
                  </a:srgbClr>
                </a:solidFill>
                <a:latin typeface="Poppins"/>
                <a:ea typeface="Poppins"/>
                <a:cs typeface="Poppins"/>
                <a:sym typeface="Poppins"/>
              </a:rPr>
              <a:t>wyższej</a:t>
            </a:r>
            <a:r>
              <a:rPr lang="en-US" sz="2155" u="none" strike="noStrike" dirty="0">
                <a:solidFill>
                  <a:srgbClr val="170B04">
                    <a:alpha val="71765"/>
                  </a:srgbClr>
                </a:solidFill>
                <a:latin typeface="Poppins"/>
                <a:ea typeface="Poppins"/>
                <a:cs typeface="Poppins"/>
                <a:sym typeface="Poppins"/>
              </a:rPr>
              <a:t> </a:t>
            </a:r>
            <a:r>
              <a:rPr lang="en-US" sz="2155" u="none" strike="noStrike" dirty="0" err="1">
                <a:solidFill>
                  <a:srgbClr val="170B04">
                    <a:alpha val="71765"/>
                  </a:srgbClr>
                </a:solidFill>
                <a:latin typeface="Poppins"/>
                <a:ea typeface="Poppins"/>
                <a:cs typeface="Poppins"/>
                <a:sym typeface="Poppins"/>
              </a:rPr>
              <a:t>zmienności</a:t>
            </a:r>
            <a:r>
              <a:rPr lang="en-US" sz="2155" u="none" strike="noStrike" dirty="0">
                <a:solidFill>
                  <a:srgbClr val="170B04">
                    <a:alpha val="71765"/>
                  </a:srgbClr>
                </a:solidFill>
                <a:latin typeface="Poppins"/>
                <a:ea typeface="Poppins"/>
                <a:cs typeface="Poppins"/>
                <a:sym typeface="Poppins"/>
              </a:rPr>
              <a:t>.</a:t>
            </a:r>
          </a:p>
          <a:p>
            <a:pPr marL="0" lvl="0" indent="0" algn="l">
              <a:lnSpc>
                <a:spcPts val="4117"/>
              </a:lnSpc>
            </a:pPr>
            <a:endParaRPr lang="en-US" sz="2155" u="none" strike="noStrike" dirty="0">
              <a:solidFill>
                <a:srgbClr val="170B04">
                  <a:alpha val="71765"/>
                </a:srgbClr>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9593" y="-1860965"/>
            <a:ext cx="3620517" cy="13146547"/>
            <a:chOff x="0" y="0"/>
            <a:chExt cx="953552" cy="3462465"/>
          </a:xfrm>
        </p:grpSpPr>
        <p:sp>
          <p:nvSpPr>
            <p:cNvPr id="3" name="Freeform 3"/>
            <p:cNvSpPr/>
            <p:nvPr/>
          </p:nvSpPr>
          <p:spPr>
            <a:xfrm>
              <a:off x="0" y="0"/>
              <a:ext cx="953552" cy="3462465"/>
            </a:xfrm>
            <a:custGeom>
              <a:avLst/>
              <a:gdLst/>
              <a:ahLst/>
              <a:cxnLst/>
              <a:rect l="l" t="t" r="r" b="b"/>
              <a:pathLst>
                <a:path w="953552" h="3462465">
                  <a:moveTo>
                    <a:pt x="0" y="0"/>
                  </a:moveTo>
                  <a:lnTo>
                    <a:pt x="953552" y="0"/>
                  </a:lnTo>
                  <a:lnTo>
                    <a:pt x="953552"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953552" cy="3519615"/>
            </a:xfrm>
            <a:prstGeom prst="rect">
              <a:avLst/>
            </a:prstGeom>
          </p:spPr>
          <p:txBody>
            <a:bodyPr lIns="50800" tIns="50800" rIns="50800" bIns="50800" rtlCol="0" anchor="ctr"/>
            <a:lstStyle/>
            <a:p>
              <a:pPr algn="ctr">
                <a:lnSpc>
                  <a:spcPts val="2867"/>
                </a:lnSpc>
              </a:pPr>
              <a:endParaRPr/>
            </a:p>
          </p:txBody>
        </p:sp>
      </p:grpSp>
      <p:sp>
        <p:nvSpPr>
          <p:cNvPr id="5" name="TextBox 5"/>
          <p:cNvSpPr txBox="1"/>
          <p:nvPr/>
        </p:nvSpPr>
        <p:spPr>
          <a:xfrm>
            <a:off x="4002709" y="539741"/>
            <a:ext cx="9829798" cy="11779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CZYM SĄ ETF-Y?</a:t>
            </a:r>
          </a:p>
        </p:txBody>
      </p:sp>
      <p:sp>
        <p:nvSpPr>
          <p:cNvPr id="6" name="TextBox 6"/>
          <p:cNvSpPr txBox="1"/>
          <p:nvPr/>
        </p:nvSpPr>
        <p:spPr>
          <a:xfrm>
            <a:off x="3827488" y="2450514"/>
            <a:ext cx="13431812" cy="5953337"/>
          </a:xfrm>
          <a:prstGeom prst="rect">
            <a:avLst/>
          </a:prstGeom>
        </p:spPr>
        <p:txBody>
          <a:bodyPr lIns="0" tIns="0" rIns="0" bIns="0" rtlCol="0" anchor="t">
            <a:spAutoFit/>
          </a:bodyPr>
          <a:lstStyle/>
          <a:p>
            <a:pPr marL="465398" lvl="1" indent="-232699" algn="l">
              <a:lnSpc>
                <a:spcPts val="3664"/>
              </a:lnSpc>
              <a:spcBef>
                <a:spcPct val="0"/>
              </a:spcBef>
              <a:buFont typeface="Arial"/>
              <a:buChar char="•"/>
            </a:pPr>
            <a:r>
              <a:rPr lang="en-US" sz="2155">
                <a:solidFill>
                  <a:srgbClr val="170B04">
                    <a:alpha val="71765"/>
                  </a:srgbClr>
                </a:solidFill>
                <a:latin typeface="Poppins"/>
                <a:ea typeface="Poppins"/>
                <a:cs typeface="Poppins"/>
                <a:sym typeface="Poppins"/>
              </a:rPr>
              <a:t>Definicja: </a:t>
            </a:r>
            <a:r>
              <a:rPr lang="en-US" sz="2155" u="none" strike="noStrike">
                <a:solidFill>
                  <a:srgbClr val="170B04">
                    <a:alpha val="71765"/>
                  </a:srgbClr>
                </a:solidFill>
                <a:latin typeface="Poppins"/>
                <a:ea typeface="Poppins"/>
                <a:cs typeface="Poppins"/>
                <a:sym typeface="Poppins"/>
              </a:rPr>
              <a:t>Fundusz inwestycyjny notowany na giełdzie, który pasywnie kopiuje wyniki wybranego indeksu (np. S&amp;P 500 lub NASDAQ-100).</a:t>
            </a:r>
          </a:p>
          <a:p>
            <a:pPr marL="465398" lvl="1" indent="-232699" algn="l">
              <a:lnSpc>
                <a:spcPts val="3664"/>
              </a:lnSpc>
              <a:spcBef>
                <a:spcPct val="0"/>
              </a:spcBef>
              <a:buFont typeface="Arial"/>
              <a:buChar char="•"/>
            </a:pPr>
            <a:r>
              <a:rPr lang="en-US" sz="2155" u="none" strike="noStrike">
                <a:solidFill>
                  <a:srgbClr val="170B04">
                    <a:alpha val="71765"/>
                  </a:srgbClr>
                </a:solidFill>
                <a:latin typeface="Poppins"/>
                <a:ea typeface="Poppins"/>
                <a:cs typeface="Poppins"/>
                <a:sym typeface="Poppins"/>
              </a:rPr>
              <a:t>Dywersyfikacja: Inwestor kupuje jeden certyfikat, stając się właścicielem ułamka setek różnych spółek. Spadki jednych firm są równoważone przez wzrosty innych.</a:t>
            </a:r>
          </a:p>
          <a:p>
            <a:pPr marL="465398" lvl="1" indent="-232699" algn="l">
              <a:lnSpc>
                <a:spcPts val="3664"/>
              </a:lnSpc>
              <a:spcBef>
                <a:spcPct val="0"/>
              </a:spcBef>
              <a:buFont typeface="Arial"/>
              <a:buChar char="•"/>
            </a:pPr>
            <a:r>
              <a:rPr lang="en-US" sz="2155" u="none" strike="noStrike">
                <a:solidFill>
                  <a:srgbClr val="170B04">
                    <a:alpha val="71765"/>
                  </a:srgbClr>
                </a:solidFill>
                <a:latin typeface="Poppins"/>
                <a:ea typeface="Poppins"/>
                <a:cs typeface="Poppins"/>
                <a:sym typeface="Poppins"/>
              </a:rPr>
              <a:t>Płynność: Wycena zmienia się z sekundy na sekundę. Funduszem handluje się w trybie ciągłym, dokładnie tak samo jak akcjami pojedynczych spółek.</a:t>
            </a:r>
          </a:p>
          <a:p>
            <a:pPr marL="465398" lvl="1" indent="-232699" algn="l">
              <a:lnSpc>
                <a:spcPts val="3664"/>
              </a:lnSpc>
              <a:spcBef>
                <a:spcPct val="0"/>
              </a:spcBef>
              <a:buFont typeface="Arial"/>
              <a:buChar char="•"/>
            </a:pPr>
            <a:r>
              <a:rPr lang="en-US" sz="2155" u="none" strike="noStrike">
                <a:solidFill>
                  <a:srgbClr val="170B04">
                    <a:alpha val="71765"/>
                  </a:srgbClr>
                </a:solidFill>
                <a:latin typeface="Poppins"/>
                <a:ea typeface="Poppins"/>
                <a:cs typeface="Poppins"/>
                <a:sym typeface="Poppins"/>
              </a:rPr>
              <a:t>Cyfrowy obrót: Handel odbywa się w pełni elektronicznie przez rozproszone sieci komputerowe i cyfrowe arkusze zleceń.</a:t>
            </a:r>
          </a:p>
          <a:p>
            <a:pPr marL="465398" lvl="1" indent="-232699" algn="l">
              <a:lnSpc>
                <a:spcPts val="3664"/>
              </a:lnSpc>
              <a:spcBef>
                <a:spcPct val="0"/>
              </a:spcBef>
              <a:buFont typeface="Arial"/>
              <a:buChar char="•"/>
            </a:pPr>
            <a:r>
              <a:rPr lang="en-US" sz="2155" u="none" strike="noStrike">
                <a:solidFill>
                  <a:srgbClr val="170B04">
                    <a:alpha val="71765"/>
                  </a:srgbClr>
                </a:solidFill>
                <a:latin typeface="Poppins"/>
                <a:ea typeface="Poppins"/>
                <a:cs typeface="Poppins"/>
                <a:sym typeface="Poppins"/>
              </a:rPr>
              <a:t>Automatyczna płynność: Specjalne algorytmy (Animatorzy Rynku) stale analizują ceny spółek w koszyku i automatycznie wystawiają oferty kupna/sprzedaży.</a:t>
            </a:r>
          </a:p>
          <a:p>
            <a:pPr marL="465398" lvl="1" indent="-232699" algn="l">
              <a:lnSpc>
                <a:spcPts val="3664"/>
              </a:lnSpc>
              <a:spcBef>
                <a:spcPct val="0"/>
              </a:spcBef>
              <a:buFont typeface="Arial"/>
              <a:buChar char="•"/>
            </a:pPr>
            <a:r>
              <a:rPr lang="en-US" sz="2155" u="none" strike="noStrike">
                <a:solidFill>
                  <a:srgbClr val="170B04">
                    <a:alpha val="71765"/>
                  </a:srgbClr>
                </a:solidFill>
                <a:latin typeface="Poppins"/>
                <a:ea typeface="Poppins"/>
                <a:cs typeface="Poppins"/>
                <a:sym typeface="Poppins"/>
              </a:rPr>
              <a:t>Komputerowy arbitraż: Zaawansowane programy w milisekundach wyrównują cenę giełdową ETF-u, jeśli ta zaczyna odbiegać od realnej wartości posiadanych przez niego akcji.</a:t>
            </a:r>
          </a:p>
          <a:p>
            <a:pPr marL="0" lvl="0" indent="0" algn="l">
              <a:lnSpc>
                <a:spcPts val="3664"/>
              </a:lnSpc>
              <a:spcBef>
                <a:spcPct val="0"/>
              </a:spcBef>
            </a:pPr>
            <a:endParaRPr lang="en-US" sz="2155" u="none" strike="noStrike">
              <a:solidFill>
                <a:srgbClr val="170B04">
                  <a:alpha val="71765"/>
                </a:srgbClr>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145377" y="-1429773"/>
            <a:ext cx="3620517" cy="13146547"/>
            <a:chOff x="0" y="0"/>
            <a:chExt cx="953552" cy="3462465"/>
          </a:xfrm>
        </p:grpSpPr>
        <p:sp>
          <p:nvSpPr>
            <p:cNvPr id="3" name="Freeform 3"/>
            <p:cNvSpPr/>
            <p:nvPr/>
          </p:nvSpPr>
          <p:spPr>
            <a:xfrm>
              <a:off x="0" y="0"/>
              <a:ext cx="953552" cy="3462465"/>
            </a:xfrm>
            <a:custGeom>
              <a:avLst/>
              <a:gdLst/>
              <a:ahLst/>
              <a:cxnLst/>
              <a:rect l="l" t="t" r="r" b="b"/>
              <a:pathLst>
                <a:path w="953552" h="3462465">
                  <a:moveTo>
                    <a:pt x="0" y="0"/>
                  </a:moveTo>
                  <a:lnTo>
                    <a:pt x="953552" y="0"/>
                  </a:lnTo>
                  <a:lnTo>
                    <a:pt x="953552"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953552" cy="3519615"/>
            </a:xfrm>
            <a:prstGeom prst="rect">
              <a:avLst/>
            </a:prstGeom>
          </p:spPr>
          <p:txBody>
            <a:bodyPr lIns="50800" tIns="50800" rIns="50800" bIns="50800" rtlCol="0" anchor="ctr"/>
            <a:lstStyle/>
            <a:p>
              <a:pPr algn="ctr">
                <a:lnSpc>
                  <a:spcPts val="2867"/>
                </a:lnSpc>
              </a:pPr>
              <a:endParaRPr/>
            </a:p>
          </p:txBody>
        </p:sp>
      </p:grpSp>
      <p:grpSp>
        <p:nvGrpSpPr>
          <p:cNvPr id="5" name="Group 5"/>
          <p:cNvGrpSpPr/>
          <p:nvPr/>
        </p:nvGrpSpPr>
        <p:grpSpPr>
          <a:xfrm>
            <a:off x="1028700" y="9258300"/>
            <a:ext cx="3813641" cy="47625"/>
            <a:chOff x="0" y="0"/>
            <a:chExt cx="1004416" cy="12543"/>
          </a:xfrm>
        </p:grpSpPr>
        <p:sp>
          <p:nvSpPr>
            <p:cNvPr id="6" name="Freeform 6"/>
            <p:cNvSpPr/>
            <p:nvPr/>
          </p:nvSpPr>
          <p:spPr>
            <a:xfrm>
              <a:off x="0" y="0"/>
              <a:ext cx="1004416" cy="12543"/>
            </a:xfrm>
            <a:custGeom>
              <a:avLst/>
              <a:gdLst/>
              <a:ahLst/>
              <a:cxnLst/>
              <a:rect l="l" t="t" r="r" b="b"/>
              <a:pathLst>
                <a:path w="1004416" h="12543">
                  <a:moveTo>
                    <a:pt x="0" y="0"/>
                  </a:moveTo>
                  <a:lnTo>
                    <a:pt x="1004416" y="0"/>
                  </a:lnTo>
                  <a:lnTo>
                    <a:pt x="1004416" y="12543"/>
                  </a:lnTo>
                  <a:lnTo>
                    <a:pt x="0" y="12543"/>
                  </a:lnTo>
                  <a:close/>
                </a:path>
              </a:pathLst>
            </a:custGeom>
            <a:solidFill>
              <a:srgbClr val="07364E"/>
            </a:solidFill>
          </p:spPr>
          <p:txBody>
            <a:bodyPr/>
            <a:lstStyle/>
            <a:p>
              <a:endParaRPr lang="pl-PL"/>
            </a:p>
          </p:txBody>
        </p:sp>
        <p:sp>
          <p:nvSpPr>
            <p:cNvPr id="7" name="TextBox 7"/>
            <p:cNvSpPr txBox="1"/>
            <p:nvPr/>
          </p:nvSpPr>
          <p:spPr>
            <a:xfrm>
              <a:off x="0" y="-57150"/>
              <a:ext cx="1004416" cy="69693"/>
            </a:xfrm>
            <a:prstGeom prst="rect">
              <a:avLst/>
            </a:prstGeom>
          </p:spPr>
          <p:txBody>
            <a:bodyPr lIns="50800" tIns="50800" rIns="50800" bIns="50800" rtlCol="0" anchor="ctr"/>
            <a:lstStyle/>
            <a:p>
              <a:pPr algn="ctr">
                <a:lnSpc>
                  <a:spcPts val="2867"/>
                </a:lnSpc>
              </a:pPr>
              <a:endParaRPr/>
            </a:p>
          </p:txBody>
        </p:sp>
      </p:grpSp>
      <p:grpSp>
        <p:nvGrpSpPr>
          <p:cNvPr id="8" name="Group 8"/>
          <p:cNvGrpSpPr/>
          <p:nvPr/>
        </p:nvGrpSpPr>
        <p:grpSpPr>
          <a:xfrm>
            <a:off x="5768026" y="9258300"/>
            <a:ext cx="3813641" cy="47625"/>
            <a:chOff x="0" y="0"/>
            <a:chExt cx="1004416" cy="12543"/>
          </a:xfrm>
        </p:grpSpPr>
        <p:sp>
          <p:nvSpPr>
            <p:cNvPr id="9" name="Freeform 9"/>
            <p:cNvSpPr/>
            <p:nvPr/>
          </p:nvSpPr>
          <p:spPr>
            <a:xfrm>
              <a:off x="0" y="0"/>
              <a:ext cx="1004416" cy="12543"/>
            </a:xfrm>
            <a:custGeom>
              <a:avLst/>
              <a:gdLst/>
              <a:ahLst/>
              <a:cxnLst/>
              <a:rect l="l" t="t" r="r" b="b"/>
              <a:pathLst>
                <a:path w="1004416" h="12543">
                  <a:moveTo>
                    <a:pt x="0" y="0"/>
                  </a:moveTo>
                  <a:lnTo>
                    <a:pt x="1004416" y="0"/>
                  </a:lnTo>
                  <a:lnTo>
                    <a:pt x="1004416" y="12543"/>
                  </a:lnTo>
                  <a:lnTo>
                    <a:pt x="0" y="12543"/>
                  </a:lnTo>
                  <a:close/>
                </a:path>
              </a:pathLst>
            </a:custGeom>
            <a:solidFill>
              <a:srgbClr val="07364E"/>
            </a:solidFill>
          </p:spPr>
          <p:txBody>
            <a:bodyPr/>
            <a:lstStyle/>
            <a:p>
              <a:endParaRPr lang="pl-PL"/>
            </a:p>
          </p:txBody>
        </p:sp>
        <p:sp>
          <p:nvSpPr>
            <p:cNvPr id="10" name="TextBox 10"/>
            <p:cNvSpPr txBox="1"/>
            <p:nvPr/>
          </p:nvSpPr>
          <p:spPr>
            <a:xfrm>
              <a:off x="0" y="-57150"/>
              <a:ext cx="1004416" cy="69693"/>
            </a:xfrm>
            <a:prstGeom prst="rect">
              <a:avLst/>
            </a:prstGeom>
          </p:spPr>
          <p:txBody>
            <a:bodyPr lIns="50800" tIns="50800" rIns="50800" bIns="50800" rtlCol="0" anchor="ctr"/>
            <a:lstStyle/>
            <a:p>
              <a:pPr algn="ctr">
                <a:lnSpc>
                  <a:spcPts val="2867"/>
                </a:lnSpc>
              </a:pPr>
              <a:endParaRPr/>
            </a:p>
          </p:txBody>
        </p:sp>
      </p:grpSp>
      <p:grpSp>
        <p:nvGrpSpPr>
          <p:cNvPr id="11" name="Group 11"/>
          <p:cNvGrpSpPr/>
          <p:nvPr/>
        </p:nvGrpSpPr>
        <p:grpSpPr>
          <a:xfrm>
            <a:off x="10507352" y="9258300"/>
            <a:ext cx="3813641" cy="47625"/>
            <a:chOff x="0" y="0"/>
            <a:chExt cx="1004416" cy="12543"/>
          </a:xfrm>
        </p:grpSpPr>
        <p:sp>
          <p:nvSpPr>
            <p:cNvPr id="12" name="Freeform 12"/>
            <p:cNvSpPr/>
            <p:nvPr/>
          </p:nvSpPr>
          <p:spPr>
            <a:xfrm>
              <a:off x="0" y="0"/>
              <a:ext cx="1004416" cy="12543"/>
            </a:xfrm>
            <a:custGeom>
              <a:avLst/>
              <a:gdLst/>
              <a:ahLst/>
              <a:cxnLst/>
              <a:rect l="l" t="t" r="r" b="b"/>
              <a:pathLst>
                <a:path w="1004416" h="12543">
                  <a:moveTo>
                    <a:pt x="0" y="0"/>
                  </a:moveTo>
                  <a:lnTo>
                    <a:pt x="1004416" y="0"/>
                  </a:lnTo>
                  <a:lnTo>
                    <a:pt x="1004416" y="12543"/>
                  </a:lnTo>
                  <a:lnTo>
                    <a:pt x="0" y="12543"/>
                  </a:lnTo>
                  <a:close/>
                </a:path>
              </a:pathLst>
            </a:custGeom>
            <a:solidFill>
              <a:srgbClr val="07364E"/>
            </a:solidFill>
          </p:spPr>
          <p:txBody>
            <a:bodyPr/>
            <a:lstStyle/>
            <a:p>
              <a:endParaRPr lang="pl-PL"/>
            </a:p>
          </p:txBody>
        </p:sp>
        <p:sp>
          <p:nvSpPr>
            <p:cNvPr id="13" name="TextBox 13"/>
            <p:cNvSpPr txBox="1"/>
            <p:nvPr/>
          </p:nvSpPr>
          <p:spPr>
            <a:xfrm>
              <a:off x="0" y="-57150"/>
              <a:ext cx="1004416" cy="69693"/>
            </a:xfrm>
            <a:prstGeom prst="rect">
              <a:avLst/>
            </a:prstGeom>
          </p:spPr>
          <p:txBody>
            <a:bodyPr lIns="50800" tIns="50800" rIns="50800" bIns="50800" rtlCol="0" anchor="ctr"/>
            <a:lstStyle/>
            <a:p>
              <a:pPr algn="ctr">
                <a:lnSpc>
                  <a:spcPts val="2867"/>
                </a:lnSpc>
              </a:pPr>
              <a:endParaRPr/>
            </a:p>
          </p:txBody>
        </p:sp>
      </p:grpSp>
      <p:sp>
        <p:nvSpPr>
          <p:cNvPr id="14" name="TextBox 14"/>
          <p:cNvSpPr txBox="1"/>
          <p:nvPr/>
        </p:nvSpPr>
        <p:spPr>
          <a:xfrm>
            <a:off x="1028700" y="506109"/>
            <a:ext cx="11748275" cy="22665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DOBÓR INSTRUMENTÓW </a:t>
            </a:r>
          </a:p>
        </p:txBody>
      </p:sp>
      <p:sp>
        <p:nvSpPr>
          <p:cNvPr id="15" name="TextBox 15"/>
          <p:cNvSpPr txBox="1"/>
          <p:nvPr/>
        </p:nvSpPr>
        <p:spPr>
          <a:xfrm>
            <a:off x="1028700" y="4292056"/>
            <a:ext cx="2917034" cy="356144"/>
          </a:xfrm>
          <a:prstGeom prst="rect">
            <a:avLst/>
          </a:prstGeom>
        </p:spPr>
        <p:txBody>
          <a:bodyPr lIns="0" tIns="0" rIns="0" bIns="0" rtlCol="0" anchor="t">
            <a:spAutoFit/>
          </a:bodyPr>
          <a:lstStyle/>
          <a:p>
            <a:pPr algn="l">
              <a:lnSpc>
                <a:spcPts val="2751"/>
              </a:lnSpc>
            </a:pPr>
            <a:r>
              <a:rPr lang="en-US" sz="1965" spc="245">
                <a:solidFill>
                  <a:srgbClr val="170B04"/>
                </a:solidFill>
                <a:latin typeface="Poppins"/>
                <a:ea typeface="Poppins"/>
                <a:cs typeface="Poppins"/>
                <a:sym typeface="Poppins"/>
              </a:rPr>
              <a:t>SPY (S&amp;P 500 ETF)</a:t>
            </a:r>
          </a:p>
        </p:txBody>
      </p:sp>
      <p:sp>
        <p:nvSpPr>
          <p:cNvPr id="16" name="TextBox 16"/>
          <p:cNvSpPr txBox="1"/>
          <p:nvPr/>
        </p:nvSpPr>
        <p:spPr>
          <a:xfrm>
            <a:off x="686685" y="5029200"/>
            <a:ext cx="4497672" cy="4457700"/>
          </a:xfrm>
          <a:prstGeom prst="rect">
            <a:avLst/>
          </a:prstGeom>
        </p:spPr>
        <p:txBody>
          <a:bodyPr lIns="0" tIns="0" rIns="0" bIns="0" rtlCol="0" anchor="t">
            <a:spAutoFit/>
          </a:bodyPr>
          <a:lstStyle/>
          <a:p>
            <a:pPr marL="906780" lvl="2" indent="-302260" algn="l">
              <a:lnSpc>
                <a:spcPts val="3569"/>
              </a:lnSpc>
              <a:spcBef>
                <a:spcPct val="0"/>
              </a:spcBef>
              <a:buFont typeface="Arial"/>
              <a:buChar char="⚬"/>
            </a:pPr>
            <a:r>
              <a:rPr lang="en-US" sz="2100">
                <a:solidFill>
                  <a:srgbClr val="170B04">
                    <a:alpha val="71765"/>
                  </a:srgbClr>
                </a:solidFill>
                <a:latin typeface="Poppins"/>
                <a:ea typeface="Poppins"/>
                <a:cs typeface="Poppins"/>
                <a:sym typeface="Poppins"/>
              </a:rPr>
              <a:t>K</a:t>
            </a:r>
            <a:r>
              <a:rPr lang="en-US" sz="2100" u="none" strike="noStrike">
                <a:solidFill>
                  <a:srgbClr val="170B04">
                    <a:alpha val="71765"/>
                  </a:srgbClr>
                </a:solidFill>
                <a:latin typeface="Poppins"/>
                <a:ea typeface="Poppins"/>
                <a:cs typeface="Poppins"/>
                <a:sym typeface="Poppins"/>
              </a:rPr>
              <a:t>oszyk 500 największych firm w USA (odzwierciedlenie całej gospodarki).</a:t>
            </a:r>
          </a:p>
          <a:p>
            <a:pPr marL="906780" lvl="2" indent="-302260" algn="l">
              <a:lnSpc>
                <a:spcPts val="3569"/>
              </a:lnSpc>
              <a:spcBef>
                <a:spcPct val="0"/>
              </a:spcBef>
              <a:buFont typeface="Arial"/>
              <a:buChar char="⚬"/>
            </a:pPr>
            <a:r>
              <a:rPr lang="en-US" sz="2100" u="none" strike="noStrike">
                <a:solidFill>
                  <a:srgbClr val="170B04">
                    <a:alpha val="71765"/>
                  </a:srgbClr>
                </a:solidFill>
                <a:latin typeface="Poppins"/>
                <a:ea typeface="Poppins"/>
                <a:cs typeface="Poppins"/>
                <a:sym typeface="Poppins"/>
              </a:rPr>
              <a:t>Wysoka stabilność -               alerty HIGH lub CRITICAL mogą sygnalizować istotniejszy ruch szerokiego rynku</a:t>
            </a:r>
          </a:p>
          <a:p>
            <a:pPr marL="0" lvl="0" indent="0" algn="l">
              <a:lnSpc>
                <a:spcPts val="3569"/>
              </a:lnSpc>
              <a:spcBef>
                <a:spcPct val="0"/>
              </a:spcBef>
            </a:pPr>
            <a:endParaRPr lang="en-US" sz="2100" u="none" strike="noStrike">
              <a:solidFill>
                <a:srgbClr val="170B04">
                  <a:alpha val="71765"/>
                </a:srgbClr>
              </a:solidFill>
              <a:latin typeface="Poppins"/>
              <a:ea typeface="Poppins"/>
              <a:cs typeface="Poppins"/>
              <a:sym typeface="Poppins"/>
            </a:endParaRPr>
          </a:p>
        </p:txBody>
      </p:sp>
      <p:sp>
        <p:nvSpPr>
          <p:cNvPr id="17" name="TextBox 17"/>
          <p:cNvSpPr txBox="1"/>
          <p:nvPr/>
        </p:nvSpPr>
        <p:spPr>
          <a:xfrm>
            <a:off x="5913377" y="4292056"/>
            <a:ext cx="3596326" cy="356144"/>
          </a:xfrm>
          <a:prstGeom prst="rect">
            <a:avLst/>
          </a:prstGeom>
        </p:spPr>
        <p:txBody>
          <a:bodyPr lIns="0" tIns="0" rIns="0" bIns="0" rtlCol="0" anchor="t">
            <a:spAutoFit/>
          </a:bodyPr>
          <a:lstStyle/>
          <a:p>
            <a:pPr algn="l">
              <a:lnSpc>
                <a:spcPts val="2751"/>
              </a:lnSpc>
            </a:pPr>
            <a:r>
              <a:rPr lang="en-US" sz="1965" spc="245">
                <a:solidFill>
                  <a:srgbClr val="170B04"/>
                </a:solidFill>
                <a:latin typeface="Poppins"/>
                <a:ea typeface="Poppins"/>
                <a:cs typeface="Poppins"/>
                <a:sym typeface="Poppins"/>
              </a:rPr>
              <a:t>QQQ (NASDAQ-100 ETF)</a:t>
            </a:r>
          </a:p>
        </p:txBody>
      </p:sp>
      <p:sp>
        <p:nvSpPr>
          <p:cNvPr id="18" name="TextBox 18"/>
          <p:cNvSpPr txBox="1"/>
          <p:nvPr/>
        </p:nvSpPr>
        <p:spPr>
          <a:xfrm>
            <a:off x="5573055" y="5029200"/>
            <a:ext cx="4203583" cy="3562350"/>
          </a:xfrm>
          <a:prstGeom prst="rect">
            <a:avLst/>
          </a:prstGeom>
        </p:spPr>
        <p:txBody>
          <a:bodyPr lIns="0" tIns="0" rIns="0" bIns="0" rtlCol="0" anchor="t">
            <a:spAutoFit/>
          </a:bodyPr>
          <a:lstStyle/>
          <a:p>
            <a:pPr marL="906780" lvl="2" indent="-302260" algn="l">
              <a:lnSpc>
                <a:spcPts val="3569"/>
              </a:lnSpc>
              <a:spcBef>
                <a:spcPct val="0"/>
              </a:spcBef>
              <a:buFont typeface="Arial"/>
              <a:buChar char="⚬"/>
            </a:pPr>
            <a:r>
              <a:rPr lang="en-US" sz="2100">
                <a:solidFill>
                  <a:srgbClr val="170B04">
                    <a:alpha val="71765"/>
                  </a:srgbClr>
                </a:solidFill>
                <a:latin typeface="Poppins"/>
                <a:ea typeface="Poppins"/>
                <a:cs typeface="Poppins"/>
                <a:sym typeface="Poppins"/>
              </a:rPr>
              <a:t>100</a:t>
            </a:r>
            <a:r>
              <a:rPr lang="en-US" sz="2100" u="none" strike="noStrike">
                <a:solidFill>
                  <a:srgbClr val="170B04">
                    <a:alpha val="71765"/>
                  </a:srgbClr>
                </a:solidFill>
                <a:latin typeface="Poppins"/>
                <a:ea typeface="Poppins"/>
                <a:cs typeface="Poppins"/>
                <a:sym typeface="Poppins"/>
              </a:rPr>
              <a:t> największych spółek technologicznych.</a:t>
            </a:r>
          </a:p>
          <a:p>
            <a:pPr marL="906780" lvl="2" indent="-302260" algn="l">
              <a:lnSpc>
                <a:spcPts val="3569"/>
              </a:lnSpc>
              <a:spcBef>
                <a:spcPct val="0"/>
              </a:spcBef>
              <a:buFont typeface="Arial"/>
              <a:buChar char="⚬"/>
            </a:pPr>
            <a:r>
              <a:rPr lang="en-US" sz="2100" u="none" strike="noStrike">
                <a:solidFill>
                  <a:srgbClr val="170B04">
                    <a:alpha val="71765"/>
                  </a:srgbClr>
                </a:solidFill>
                <a:latin typeface="Poppins"/>
                <a:ea typeface="Poppins"/>
                <a:cs typeface="Poppins"/>
                <a:sym typeface="Poppins"/>
              </a:rPr>
              <a:t>Wyższa zmienność - idealne środowisko do testowania alertów średniego ryzyka (MEDIUM).</a:t>
            </a:r>
          </a:p>
          <a:p>
            <a:pPr marL="0" lvl="0" indent="0" algn="l">
              <a:lnSpc>
                <a:spcPts val="3569"/>
              </a:lnSpc>
              <a:spcBef>
                <a:spcPct val="0"/>
              </a:spcBef>
            </a:pPr>
            <a:endParaRPr lang="en-US" sz="2100" u="none" strike="noStrike">
              <a:solidFill>
                <a:srgbClr val="170B04">
                  <a:alpha val="71765"/>
                </a:srgbClr>
              </a:solidFill>
              <a:latin typeface="Poppins"/>
              <a:ea typeface="Poppins"/>
              <a:cs typeface="Poppins"/>
              <a:sym typeface="Poppins"/>
            </a:endParaRPr>
          </a:p>
        </p:txBody>
      </p:sp>
      <p:sp>
        <p:nvSpPr>
          <p:cNvPr id="19" name="TextBox 19"/>
          <p:cNvSpPr txBox="1"/>
          <p:nvPr/>
        </p:nvSpPr>
        <p:spPr>
          <a:xfrm>
            <a:off x="10507352" y="4292056"/>
            <a:ext cx="2410959" cy="356144"/>
          </a:xfrm>
          <a:prstGeom prst="rect">
            <a:avLst/>
          </a:prstGeom>
        </p:spPr>
        <p:txBody>
          <a:bodyPr lIns="0" tIns="0" rIns="0" bIns="0" rtlCol="0" anchor="t">
            <a:spAutoFit/>
          </a:bodyPr>
          <a:lstStyle/>
          <a:p>
            <a:pPr algn="l">
              <a:lnSpc>
                <a:spcPts val="2751"/>
              </a:lnSpc>
            </a:pPr>
            <a:r>
              <a:rPr lang="en-US" sz="1965" spc="245">
                <a:solidFill>
                  <a:srgbClr val="170B04"/>
                </a:solidFill>
                <a:latin typeface="Poppins"/>
                <a:ea typeface="Poppins"/>
                <a:cs typeface="Poppins"/>
                <a:sym typeface="Poppins"/>
              </a:rPr>
              <a:t>NVDA (NVIDIA)</a:t>
            </a:r>
          </a:p>
        </p:txBody>
      </p:sp>
      <p:sp>
        <p:nvSpPr>
          <p:cNvPr id="20" name="TextBox 20"/>
          <p:cNvSpPr txBox="1"/>
          <p:nvPr/>
        </p:nvSpPr>
        <p:spPr>
          <a:xfrm>
            <a:off x="10357663" y="5029200"/>
            <a:ext cx="4323153" cy="4457700"/>
          </a:xfrm>
          <a:prstGeom prst="rect">
            <a:avLst/>
          </a:prstGeom>
        </p:spPr>
        <p:txBody>
          <a:bodyPr lIns="0" tIns="0" rIns="0" bIns="0" rtlCol="0" anchor="t">
            <a:spAutoFit/>
          </a:bodyPr>
          <a:lstStyle/>
          <a:p>
            <a:pPr marL="906780" lvl="2" indent="-302260" algn="l">
              <a:lnSpc>
                <a:spcPts val="3569"/>
              </a:lnSpc>
              <a:spcBef>
                <a:spcPct val="0"/>
              </a:spcBef>
              <a:buFont typeface="Arial"/>
              <a:buChar char="⚬"/>
            </a:pPr>
            <a:r>
              <a:rPr lang="en-US" sz="2100">
                <a:solidFill>
                  <a:srgbClr val="170B04">
                    <a:alpha val="71765"/>
                  </a:srgbClr>
                </a:solidFill>
                <a:latin typeface="Poppins"/>
                <a:ea typeface="Poppins"/>
                <a:cs typeface="Poppins"/>
                <a:sym typeface="Poppins"/>
              </a:rPr>
              <a:t>Akcje p</a:t>
            </a:r>
            <a:r>
              <a:rPr lang="en-US" sz="2100" u="none" strike="noStrike">
                <a:solidFill>
                  <a:srgbClr val="170B04">
                    <a:alpha val="71765"/>
                  </a:srgbClr>
                </a:solidFill>
                <a:latin typeface="Poppins"/>
                <a:ea typeface="Poppins"/>
                <a:cs typeface="Poppins"/>
                <a:sym typeface="Poppins"/>
              </a:rPr>
              <a:t>ojedynczego przedsiębiorstwa, brak ochrony przez dywersyfikację.</a:t>
            </a:r>
          </a:p>
          <a:p>
            <a:pPr marL="906780" lvl="2" indent="-302260" algn="l">
              <a:lnSpc>
                <a:spcPts val="3569"/>
              </a:lnSpc>
              <a:spcBef>
                <a:spcPct val="0"/>
              </a:spcBef>
              <a:buFont typeface="Arial"/>
              <a:buChar char="⚬"/>
            </a:pPr>
            <a:r>
              <a:rPr lang="en-US" sz="2100" u="none" strike="noStrike">
                <a:solidFill>
                  <a:srgbClr val="170B04">
                    <a:alpha val="71765"/>
                  </a:srgbClr>
                </a:solidFill>
                <a:latin typeface="Poppins"/>
                <a:ea typeface="Poppins"/>
                <a:cs typeface="Poppins"/>
                <a:sym typeface="Poppins"/>
              </a:rPr>
              <a:t>Gwałtowne skoki cen                              i wolumenu - służy do testowania wyższych poziomów alertów ryzyka, np. HIGH lub CRITICAL.</a:t>
            </a:r>
          </a:p>
          <a:p>
            <a:pPr marL="0" lvl="0" indent="0" algn="l">
              <a:lnSpc>
                <a:spcPts val="3569"/>
              </a:lnSpc>
              <a:spcBef>
                <a:spcPct val="0"/>
              </a:spcBef>
            </a:pPr>
            <a:endParaRPr lang="en-US" sz="2100" u="none" strike="noStrike">
              <a:solidFill>
                <a:srgbClr val="170B04">
                  <a:alpha val="71765"/>
                </a:srgbClr>
              </a:solidFill>
              <a:latin typeface="Poppins"/>
              <a:ea typeface="Poppins"/>
              <a:cs typeface="Poppins"/>
              <a:sym typeface="Poppins"/>
            </a:endParaRPr>
          </a:p>
        </p:txBody>
      </p:sp>
      <p:sp>
        <p:nvSpPr>
          <p:cNvPr id="21" name="TextBox 21"/>
          <p:cNvSpPr txBox="1"/>
          <p:nvPr/>
        </p:nvSpPr>
        <p:spPr>
          <a:xfrm>
            <a:off x="1028700" y="3005996"/>
            <a:ext cx="13652117" cy="450850"/>
          </a:xfrm>
          <a:prstGeom prst="rect">
            <a:avLst/>
          </a:prstGeom>
        </p:spPr>
        <p:txBody>
          <a:bodyPr lIns="0" tIns="0" rIns="0" bIns="0" rtlCol="0" anchor="t">
            <a:spAutoFit/>
          </a:bodyPr>
          <a:lstStyle/>
          <a:p>
            <a:pPr marL="0" lvl="0" indent="0" algn="l">
              <a:lnSpc>
                <a:spcPts val="3739"/>
              </a:lnSpc>
              <a:spcBef>
                <a:spcPct val="0"/>
              </a:spcBef>
            </a:pPr>
            <a:r>
              <a:rPr lang="en-US" sz="2199">
                <a:solidFill>
                  <a:srgbClr val="170B04">
                    <a:alpha val="71765"/>
                  </a:srgbClr>
                </a:solidFill>
                <a:latin typeface="Poppins"/>
                <a:ea typeface="Poppins"/>
                <a:cs typeface="Poppins"/>
                <a:sym typeface="Poppins"/>
              </a:rPr>
              <a:t>System monit</a:t>
            </a:r>
            <a:r>
              <a:rPr lang="en-US" sz="2199" u="none" strike="noStrike">
                <a:solidFill>
                  <a:srgbClr val="170B04">
                    <a:alpha val="71765"/>
                  </a:srgbClr>
                </a:solidFill>
                <a:latin typeface="Poppins"/>
                <a:ea typeface="Poppins"/>
                <a:cs typeface="Poppins"/>
                <a:sym typeface="Poppins"/>
              </a:rPr>
              <a:t>oruje dwa fundusze ETF (SPY, QQQ) oraz jedną akcję pojedynczej spółki (NVDA):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87930" y="-1939162"/>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Freeform 5"/>
          <p:cNvSpPr/>
          <p:nvPr/>
        </p:nvSpPr>
        <p:spPr>
          <a:xfrm>
            <a:off x="4183321" y="2486285"/>
            <a:ext cx="13801888" cy="2794882"/>
          </a:xfrm>
          <a:custGeom>
            <a:avLst/>
            <a:gdLst/>
            <a:ahLst/>
            <a:cxnLst/>
            <a:rect l="l" t="t" r="r" b="b"/>
            <a:pathLst>
              <a:path w="13801888" h="2794882">
                <a:moveTo>
                  <a:pt x="0" y="0"/>
                </a:moveTo>
                <a:lnTo>
                  <a:pt x="13801887" y="0"/>
                </a:lnTo>
                <a:lnTo>
                  <a:pt x="13801887" y="2794882"/>
                </a:lnTo>
                <a:lnTo>
                  <a:pt x="0" y="2794882"/>
                </a:lnTo>
                <a:lnTo>
                  <a:pt x="0" y="0"/>
                </a:lnTo>
                <a:close/>
              </a:path>
            </a:pathLst>
          </a:custGeom>
          <a:blipFill>
            <a:blip r:embed="rId2"/>
            <a:stretch>
              <a:fillRect/>
            </a:stretch>
          </a:blipFill>
        </p:spPr>
        <p:txBody>
          <a:bodyPr/>
          <a:lstStyle/>
          <a:p>
            <a:endParaRPr lang="pl-PL"/>
          </a:p>
        </p:txBody>
      </p:sp>
      <p:sp>
        <p:nvSpPr>
          <p:cNvPr id="6" name="TextBox 6"/>
          <p:cNvSpPr txBox="1"/>
          <p:nvPr/>
        </p:nvSpPr>
        <p:spPr>
          <a:xfrm>
            <a:off x="4363640" y="539741"/>
            <a:ext cx="11486413" cy="11779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MARKET PRODUCER</a:t>
            </a:r>
          </a:p>
        </p:txBody>
      </p:sp>
      <p:sp>
        <p:nvSpPr>
          <p:cNvPr id="7" name="TextBox 7"/>
          <p:cNvSpPr txBox="1"/>
          <p:nvPr/>
        </p:nvSpPr>
        <p:spPr>
          <a:xfrm>
            <a:off x="4363640" y="5944993"/>
            <a:ext cx="13621569" cy="3576427"/>
          </a:xfrm>
          <a:prstGeom prst="rect">
            <a:avLst/>
          </a:prstGeom>
        </p:spPr>
        <p:txBody>
          <a:bodyPr lIns="0" tIns="0" rIns="0" bIns="0" rtlCol="0" anchor="t">
            <a:spAutoFit/>
          </a:bodyPr>
          <a:lstStyle/>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Cykliczne pobieranie danych: automatyczne pobieranie bieżących notowań dla instrumentów SPY, QQQ oraz NVDA w cyklach około 30-sekundowych. Rzeczywisty odstęp między komunikatami może się nieznacznie różnić, ponieważ zależy od czasu odpowiedzi API.</a:t>
            </a:r>
          </a:p>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Mechanizm awaryjny: zastosowanie generatora danych symulowanych, który uruchamia się wtedy, gdy yfinance nie zwróci poprawnych danych, na przykład poza godzinami pracy giełdy. Dzięki temu system może być testowany niezależnie od dostępności danych rynkowych.</a:t>
            </a:r>
          </a:p>
          <a:p>
            <a:pPr marL="404562" lvl="1" indent="-202281" algn="l">
              <a:lnSpc>
                <a:spcPts val="3185"/>
              </a:lnSpc>
              <a:spcBef>
                <a:spcPct val="0"/>
              </a:spcBef>
              <a:buFont typeface="Arial"/>
              <a:buChar char="•"/>
            </a:pPr>
            <a:r>
              <a:rPr lang="en-US" sz="1873">
                <a:solidFill>
                  <a:srgbClr val="170B04">
                    <a:alpha val="71765"/>
                  </a:srgbClr>
                </a:solidFill>
                <a:latin typeface="Poppins"/>
                <a:ea typeface="Poppins"/>
                <a:cs typeface="Poppins"/>
                <a:sym typeface="Poppins"/>
              </a:rPr>
              <a:t>Standaryzacja komunikatów: przekształcenie pobranych parametrów, takich jak cena, wolumen i zmiana procentowa, do jednolitej struktury JSON. Taki format ułatwia dalsze przesyłanie danych przez Kafkę i przetwarzanie ich przez kolejne moduły systemu.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72916" y="-421481"/>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Freeform 5"/>
          <p:cNvSpPr/>
          <p:nvPr/>
        </p:nvSpPr>
        <p:spPr>
          <a:xfrm>
            <a:off x="1028700" y="2803792"/>
            <a:ext cx="11717757" cy="3813029"/>
          </a:xfrm>
          <a:custGeom>
            <a:avLst/>
            <a:gdLst/>
            <a:ahLst/>
            <a:cxnLst/>
            <a:rect l="l" t="t" r="r" b="b"/>
            <a:pathLst>
              <a:path w="11717757" h="3813029">
                <a:moveTo>
                  <a:pt x="0" y="0"/>
                </a:moveTo>
                <a:lnTo>
                  <a:pt x="11717757" y="0"/>
                </a:lnTo>
                <a:lnTo>
                  <a:pt x="11717757" y="3813029"/>
                </a:lnTo>
                <a:lnTo>
                  <a:pt x="0" y="3813029"/>
                </a:lnTo>
                <a:lnTo>
                  <a:pt x="0" y="0"/>
                </a:lnTo>
                <a:close/>
              </a:path>
            </a:pathLst>
          </a:custGeom>
          <a:blipFill>
            <a:blip r:embed="rId2"/>
            <a:stretch>
              <a:fillRect b="-15624"/>
            </a:stretch>
          </a:blipFill>
        </p:spPr>
        <p:txBody>
          <a:bodyPr/>
          <a:lstStyle/>
          <a:p>
            <a:endParaRPr lang="pl-PL"/>
          </a:p>
        </p:txBody>
      </p:sp>
      <p:sp>
        <p:nvSpPr>
          <p:cNvPr id="6" name="TextBox 6"/>
          <p:cNvSpPr txBox="1"/>
          <p:nvPr/>
        </p:nvSpPr>
        <p:spPr>
          <a:xfrm>
            <a:off x="806069" y="451800"/>
            <a:ext cx="15716197" cy="2280091"/>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KAFKA MARKET CONSUMER</a:t>
            </a:r>
          </a:p>
        </p:txBody>
      </p:sp>
      <p:sp>
        <p:nvSpPr>
          <p:cNvPr id="7" name="TextBox 7"/>
          <p:cNvSpPr txBox="1"/>
          <p:nvPr/>
        </p:nvSpPr>
        <p:spPr>
          <a:xfrm>
            <a:off x="806069" y="6583948"/>
            <a:ext cx="13621569" cy="3177467"/>
          </a:xfrm>
          <a:prstGeom prst="rect">
            <a:avLst/>
          </a:prstGeom>
        </p:spPr>
        <p:txBody>
          <a:bodyPr lIns="0" tIns="0" rIns="0" bIns="0" rtlCol="0" anchor="t">
            <a:spAutoFit/>
          </a:bodyPr>
          <a:lstStyle/>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Konsola analityczna: tekstowy podgląd strumienia danych w czasie zbliżonym do rzeczywistego, pokazujący podstawowe parametry rynkowe obserwowanych instrumentów.</a:t>
            </a:r>
          </a:p>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Bieżąca weryfikacja odchyleń: monitorowanie napływających komunikatów pod kątem prostego kryterium zmienności, czyli przekroczenia progu 0.05%.</a:t>
            </a:r>
          </a:p>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Automatyczne ostrzeżenia: generowanie komunikatu w konsoli, gdy zmiana procentowa instrumentu przekroczy zdefiniowany limit.</a:t>
            </a:r>
          </a:p>
          <a:p>
            <a:pPr marL="404562" lvl="1" indent="-202281" algn="l">
              <a:lnSpc>
                <a:spcPts val="3185"/>
              </a:lnSpc>
              <a:spcBef>
                <a:spcPct val="0"/>
              </a:spcBef>
              <a:buFont typeface="Arial"/>
              <a:buChar char="•"/>
            </a:pPr>
            <a:r>
              <a:rPr lang="en-US" sz="1873">
                <a:solidFill>
                  <a:srgbClr val="170B04">
                    <a:alpha val="71765"/>
                  </a:srgbClr>
                </a:solidFill>
                <a:latin typeface="Poppins"/>
                <a:ea typeface="Poppins"/>
                <a:cs typeface="Poppins"/>
                <a:sym typeface="Poppins"/>
              </a:rPr>
              <a:t>Rola pomocnicza: consumer służy jako podstawowy monitor strumienia i potwierdzenie działania Kafki, natomiast pełna klasyfikacja ryzyka jest realizowana przez Market API Connector oraz Flask Scoring API.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72916" y="-421481"/>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Freeform 5"/>
          <p:cNvSpPr/>
          <p:nvPr/>
        </p:nvSpPr>
        <p:spPr>
          <a:xfrm>
            <a:off x="574768" y="2882215"/>
            <a:ext cx="13290208" cy="3521905"/>
          </a:xfrm>
          <a:custGeom>
            <a:avLst/>
            <a:gdLst/>
            <a:ahLst/>
            <a:cxnLst/>
            <a:rect l="l" t="t" r="r" b="b"/>
            <a:pathLst>
              <a:path w="13290208" h="3521905">
                <a:moveTo>
                  <a:pt x="0" y="0"/>
                </a:moveTo>
                <a:lnTo>
                  <a:pt x="13290208" y="0"/>
                </a:lnTo>
                <a:lnTo>
                  <a:pt x="13290208" y="3521905"/>
                </a:lnTo>
                <a:lnTo>
                  <a:pt x="0" y="3521905"/>
                </a:lnTo>
                <a:lnTo>
                  <a:pt x="0" y="0"/>
                </a:lnTo>
                <a:close/>
              </a:path>
            </a:pathLst>
          </a:custGeom>
          <a:blipFill>
            <a:blip r:embed="rId2"/>
            <a:stretch>
              <a:fillRect/>
            </a:stretch>
          </a:blipFill>
        </p:spPr>
        <p:txBody>
          <a:bodyPr/>
          <a:lstStyle/>
          <a:p>
            <a:endParaRPr lang="pl-PL"/>
          </a:p>
        </p:txBody>
      </p:sp>
      <p:sp>
        <p:nvSpPr>
          <p:cNvPr id="6" name="Freeform 6"/>
          <p:cNvSpPr/>
          <p:nvPr/>
        </p:nvSpPr>
        <p:spPr>
          <a:xfrm>
            <a:off x="1569243" y="6557585"/>
            <a:ext cx="11301259" cy="3729415"/>
          </a:xfrm>
          <a:custGeom>
            <a:avLst/>
            <a:gdLst/>
            <a:ahLst/>
            <a:cxnLst/>
            <a:rect l="l" t="t" r="r" b="b"/>
            <a:pathLst>
              <a:path w="11301259" h="3729415">
                <a:moveTo>
                  <a:pt x="0" y="0"/>
                </a:moveTo>
                <a:lnTo>
                  <a:pt x="11301259" y="0"/>
                </a:lnTo>
                <a:lnTo>
                  <a:pt x="11301259" y="3729415"/>
                </a:lnTo>
                <a:lnTo>
                  <a:pt x="0" y="3729415"/>
                </a:lnTo>
                <a:lnTo>
                  <a:pt x="0" y="0"/>
                </a:lnTo>
                <a:close/>
              </a:path>
            </a:pathLst>
          </a:custGeom>
          <a:blipFill>
            <a:blip r:embed="rId3"/>
            <a:stretch>
              <a:fillRect/>
            </a:stretch>
          </a:blipFill>
        </p:spPr>
        <p:txBody>
          <a:bodyPr/>
          <a:lstStyle/>
          <a:p>
            <a:endParaRPr lang="pl-PL"/>
          </a:p>
        </p:txBody>
      </p:sp>
      <p:sp>
        <p:nvSpPr>
          <p:cNvPr id="7" name="TextBox 7"/>
          <p:cNvSpPr txBox="1"/>
          <p:nvPr/>
        </p:nvSpPr>
        <p:spPr>
          <a:xfrm>
            <a:off x="806069" y="451800"/>
            <a:ext cx="15716197" cy="11779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REGUŁY SCORINGOWE</a:t>
            </a:r>
          </a:p>
        </p:txBody>
      </p:sp>
      <p:sp>
        <p:nvSpPr>
          <p:cNvPr id="8" name="TextBox 8"/>
          <p:cNvSpPr txBox="1"/>
          <p:nvPr/>
        </p:nvSpPr>
        <p:spPr>
          <a:xfrm>
            <a:off x="1028700" y="1815267"/>
            <a:ext cx="11877942" cy="785886"/>
          </a:xfrm>
          <a:prstGeom prst="rect">
            <a:avLst/>
          </a:prstGeom>
        </p:spPr>
        <p:txBody>
          <a:bodyPr lIns="0" tIns="0" rIns="0" bIns="0" rtlCol="0" anchor="t">
            <a:spAutoFit/>
          </a:bodyPr>
          <a:lstStyle/>
          <a:p>
            <a:pPr marL="404562" lvl="1" indent="-202281" algn="l">
              <a:lnSpc>
                <a:spcPts val="3185"/>
              </a:lnSpc>
              <a:spcBef>
                <a:spcPct val="0"/>
              </a:spcBef>
              <a:buFont typeface="Arial"/>
              <a:buChar char="•"/>
            </a:pPr>
            <a:r>
              <a:rPr lang="en-US" sz="1873" u="none" strike="noStrike">
                <a:solidFill>
                  <a:srgbClr val="170B04">
                    <a:alpha val="71765"/>
                  </a:srgbClr>
                </a:solidFill>
                <a:latin typeface="Poppins"/>
                <a:ea typeface="Poppins"/>
                <a:cs typeface="Poppins"/>
                <a:sym typeface="Poppins"/>
              </a:rPr>
              <a:t>Każde zdarzenie otrzymuje punkty za spełnione reguły, a suma punktów decyduje o poziomie ryzyka.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00419" y="-647094"/>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Freeform 5"/>
          <p:cNvSpPr/>
          <p:nvPr/>
        </p:nvSpPr>
        <p:spPr>
          <a:xfrm>
            <a:off x="7563654" y="2223006"/>
            <a:ext cx="9055855" cy="6269438"/>
          </a:xfrm>
          <a:custGeom>
            <a:avLst/>
            <a:gdLst/>
            <a:ahLst/>
            <a:cxnLst/>
            <a:rect l="l" t="t" r="r" b="b"/>
            <a:pathLst>
              <a:path w="9055855" h="6269438">
                <a:moveTo>
                  <a:pt x="0" y="0"/>
                </a:moveTo>
                <a:lnTo>
                  <a:pt x="9055855" y="0"/>
                </a:lnTo>
                <a:lnTo>
                  <a:pt x="9055855" y="6269438"/>
                </a:lnTo>
                <a:lnTo>
                  <a:pt x="0" y="6269438"/>
                </a:lnTo>
                <a:lnTo>
                  <a:pt x="0" y="0"/>
                </a:lnTo>
                <a:close/>
              </a:path>
            </a:pathLst>
          </a:custGeom>
          <a:blipFill>
            <a:blip r:embed="rId2"/>
            <a:stretch>
              <a:fillRect/>
            </a:stretch>
          </a:blipFill>
        </p:spPr>
        <p:txBody>
          <a:bodyPr/>
          <a:lstStyle/>
          <a:p>
            <a:endParaRPr lang="pl-PL"/>
          </a:p>
        </p:txBody>
      </p:sp>
      <p:sp>
        <p:nvSpPr>
          <p:cNvPr id="6" name="TextBox 6"/>
          <p:cNvSpPr txBox="1"/>
          <p:nvPr/>
        </p:nvSpPr>
        <p:spPr>
          <a:xfrm>
            <a:off x="917320" y="539741"/>
            <a:ext cx="7913682" cy="1177942"/>
          </a:xfrm>
          <a:prstGeom prst="rect">
            <a:avLst/>
          </a:prstGeom>
        </p:spPr>
        <p:txBody>
          <a:bodyPr lIns="0" tIns="0" rIns="0" bIns="0" rtlCol="0" anchor="t">
            <a:spAutoFit/>
          </a:bodyPr>
          <a:lstStyle/>
          <a:p>
            <a:pPr algn="l">
              <a:lnSpc>
                <a:spcPts val="8687"/>
              </a:lnSpc>
            </a:pPr>
            <a:r>
              <a:rPr lang="en-US" sz="9049" b="1" spc="-461">
                <a:solidFill>
                  <a:srgbClr val="07364E"/>
                </a:solidFill>
                <a:latin typeface="Gotham Bold"/>
                <a:ea typeface="Gotham Bold"/>
                <a:cs typeface="Gotham Bold"/>
                <a:sym typeface="Gotham Bold"/>
              </a:rPr>
              <a:t>FLASK API</a:t>
            </a:r>
          </a:p>
        </p:txBody>
      </p:sp>
      <p:sp>
        <p:nvSpPr>
          <p:cNvPr id="7" name="TextBox 7"/>
          <p:cNvSpPr txBox="1"/>
          <p:nvPr/>
        </p:nvSpPr>
        <p:spPr>
          <a:xfrm>
            <a:off x="1217946" y="2318651"/>
            <a:ext cx="5614120" cy="6522850"/>
          </a:xfrm>
          <a:prstGeom prst="rect">
            <a:avLst/>
          </a:prstGeom>
        </p:spPr>
        <p:txBody>
          <a:bodyPr lIns="0" tIns="0" rIns="0" bIns="0" rtlCol="0" anchor="t">
            <a:spAutoFit/>
          </a:bodyPr>
          <a:lstStyle/>
          <a:p>
            <a:pPr marL="442024" lvl="1" indent="-221012" algn="l">
              <a:lnSpc>
                <a:spcPts val="3480"/>
              </a:lnSpc>
              <a:spcBef>
                <a:spcPct val="0"/>
              </a:spcBef>
              <a:buFont typeface="Arial"/>
              <a:buChar char="•"/>
            </a:pPr>
            <a:r>
              <a:rPr lang="en-US" sz="2047">
                <a:solidFill>
                  <a:srgbClr val="170B04">
                    <a:alpha val="71765"/>
                  </a:srgbClr>
                </a:solidFill>
                <a:latin typeface="Poppins"/>
                <a:ea typeface="Poppins"/>
                <a:cs typeface="Poppins"/>
                <a:sym typeface="Poppins"/>
              </a:rPr>
              <a:t>Scentralizowa</a:t>
            </a:r>
            <a:r>
              <a:rPr lang="en-US" sz="2047" u="none" strike="noStrike">
                <a:solidFill>
                  <a:srgbClr val="170B04">
                    <a:alpha val="71765"/>
                  </a:srgbClr>
                </a:solidFill>
                <a:latin typeface="Poppins"/>
                <a:ea typeface="Poppins"/>
                <a:cs typeface="Poppins"/>
                <a:sym typeface="Poppins"/>
              </a:rPr>
              <a:t>ny moduł scoringowy: Flask API pełni rolę głównego silnika oceny ryzyka i udostępnia endpointy /health, /score, /stats oraz /dashboard.</a:t>
            </a:r>
          </a:p>
          <a:p>
            <a:pPr marL="442024" lvl="1" indent="-221012" algn="l">
              <a:lnSpc>
                <a:spcPts val="3480"/>
              </a:lnSpc>
              <a:spcBef>
                <a:spcPct val="0"/>
              </a:spcBef>
              <a:buFont typeface="Arial"/>
              <a:buChar char="•"/>
            </a:pPr>
            <a:r>
              <a:rPr lang="en-US" sz="2047" u="none" strike="noStrike">
                <a:solidFill>
                  <a:srgbClr val="170B04">
                    <a:alpha val="71765"/>
                  </a:srgbClr>
                </a:solidFill>
                <a:latin typeface="Poppins"/>
                <a:ea typeface="Poppins"/>
                <a:cs typeface="Poppins"/>
                <a:sym typeface="Poppins"/>
              </a:rPr>
              <a:t>Obsługa zdarzeń rynkowych: endpoint /score przyjmuje komunikat JSON z Market API Connectora, sprawdza wymagane pola i uruchamia reguły scoringowe.</a:t>
            </a:r>
          </a:p>
          <a:p>
            <a:pPr marL="442024" lvl="1" indent="-221012" algn="l">
              <a:lnSpc>
                <a:spcPts val="3480"/>
              </a:lnSpc>
              <a:spcBef>
                <a:spcPct val="0"/>
              </a:spcBef>
              <a:buFont typeface="Arial"/>
              <a:buChar char="•"/>
            </a:pPr>
            <a:r>
              <a:rPr lang="en-US" sz="2047" u="none" strike="noStrike">
                <a:solidFill>
                  <a:srgbClr val="170B04">
                    <a:alpha val="71765"/>
                  </a:srgbClr>
                </a:solidFill>
                <a:latin typeface="Poppins"/>
                <a:ea typeface="Poppins"/>
                <a:cs typeface="Poppins"/>
                <a:sym typeface="Poppins"/>
              </a:rPr>
              <a:t>Wynik i monitoring: API zwraca score oraz poziom ryzyka LOW, MEDIUM, HIGH lub CRITICAL, generuje alerty w konsoli i aktualizuje dane widoczne w dashboardzie.</a:t>
            </a:r>
          </a:p>
          <a:p>
            <a:pPr algn="l">
              <a:lnSpc>
                <a:spcPts val="3480"/>
              </a:lnSpc>
              <a:spcBef>
                <a:spcPct val="0"/>
              </a:spcBef>
            </a:pPr>
            <a:endParaRPr lang="en-US" sz="2047" u="none" strike="noStrike">
              <a:solidFill>
                <a:srgbClr val="170B04">
                  <a:alpha val="71765"/>
                </a:srgbClr>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79656" y="-784072"/>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Freeform 5"/>
          <p:cNvSpPr/>
          <p:nvPr/>
        </p:nvSpPr>
        <p:spPr>
          <a:xfrm>
            <a:off x="5135358" y="1923675"/>
            <a:ext cx="9494774" cy="5130012"/>
          </a:xfrm>
          <a:custGeom>
            <a:avLst/>
            <a:gdLst/>
            <a:ahLst/>
            <a:cxnLst/>
            <a:rect l="l" t="t" r="r" b="b"/>
            <a:pathLst>
              <a:path w="9494774" h="5130012">
                <a:moveTo>
                  <a:pt x="0" y="0"/>
                </a:moveTo>
                <a:lnTo>
                  <a:pt x="9494774" y="0"/>
                </a:lnTo>
                <a:lnTo>
                  <a:pt x="9494774" y="5130012"/>
                </a:lnTo>
                <a:lnTo>
                  <a:pt x="0" y="5130012"/>
                </a:lnTo>
                <a:lnTo>
                  <a:pt x="0" y="0"/>
                </a:lnTo>
                <a:close/>
              </a:path>
            </a:pathLst>
          </a:custGeom>
          <a:blipFill>
            <a:blip r:embed="rId2"/>
            <a:stretch>
              <a:fillRect/>
            </a:stretch>
          </a:blipFill>
        </p:spPr>
        <p:txBody>
          <a:bodyPr/>
          <a:lstStyle/>
          <a:p>
            <a:endParaRPr lang="pl-PL"/>
          </a:p>
        </p:txBody>
      </p:sp>
      <p:sp>
        <p:nvSpPr>
          <p:cNvPr id="6" name="TextBox 6"/>
          <p:cNvSpPr txBox="1"/>
          <p:nvPr/>
        </p:nvSpPr>
        <p:spPr>
          <a:xfrm>
            <a:off x="3637731" y="585818"/>
            <a:ext cx="14230610" cy="1066739"/>
          </a:xfrm>
          <a:prstGeom prst="rect">
            <a:avLst/>
          </a:prstGeom>
        </p:spPr>
        <p:txBody>
          <a:bodyPr lIns="0" tIns="0" rIns="0" bIns="0" rtlCol="0" anchor="t">
            <a:spAutoFit/>
          </a:bodyPr>
          <a:lstStyle/>
          <a:p>
            <a:pPr algn="l">
              <a:lnSpc>
                <a:spcPts val="7866"/>
              </a:lnSpc>
            </a:pPr>
            <a:r>
              <a:rPr lang="en-US" sz="8193" b="1" spc="-417">
                <a:solidFill>
                  <a:srgbClr val="07364E"/>
                </a:solidFill>
                <a:latin typeface="Gotham Bold"/>
                <a:ea typeface="Gotham Bold"/>
                <a:cs typeface="Gotham Bold"/>
                <a:sym typeface="Gotham Bold"/>
              </a:rPr>
              <a:t>MARKET API CONNECTOR</a:t>
            </a:r>
          </a:p>
        </p:txBody>
      </p:sp>
      <p:sp>
        <p:nvSpPr>
          <p:cNvPr id="7" name="TextBox 7"/>
          <p:cNvSpPr txBox="1"/>
          <p:nvPr/>
        </p:nvSpPr>
        <p:spPr>
          <a:xfrm>
            <a:off x="3637731" y="7220029"/>
            <a:ext cx="13621569" cy="2379547"/>
          </a:xfrm>
          <a:prstGeom prst="rect">
            <a:avLst/>
          </a:prstGeom>
        </p:spPr>
        <p:txBody>
          <a:bodyPr lIns="0" tIns="0" rIns="0" bIns="0" rtlCol="0" anchor="t">
            <a:spAutoFit/>
          </a:bodyPr>
          <a:lstStyle/>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Integracja warstw systemu: moduł pośredniczący, który odbiera dane ze strumienia Kafki i przekazuje je do serwera oceny ryzyka Flask API.</a:t>
            </a:r>
          </a:p>
          <a:p>
            <a:pPr marL="404562" lvl="1" indent="-202281" algn="l">
              <a:lnSpc>
                <a:spcPts val="3185"/>
              </a:lnSpc>
              <a:buFont typeface="Arial"/>
              <a:buChar char="•"/>
            </a:pPr>
            <a:r>
              <a:rPr lang="en-US" sz="1873">
                <a:solidFill>
                  <a:srgbClr val="170B04">
                    <a:alpha val="71765"/>
                  </a:srgbClr>
                </a:solidFill>
                <a:latin typeface="Poppins"/>
                <a:ea typeface="Poppins"/>
                <a:cs typeface="Poppins"/>
                <a:sym typeface="Poppins"/>
              </a:rPr>
              <a:t>Rejestr zdarzeń ryzykownych: automatyczny zapis alertów sklasyfikowanych jako HIGH lub CRITICAL w dedykowanym pliku tekstowym, co umożliwia późniejszą analizę zdarzeń.</a:t>
            </a:r>
          </a:p>
          <a:p>
            <a:pPr marL="404562" lvl="1" indent="-202281" algn="l">
              <a:lnSpc>
                <a:spcPts val="3185"/>
              </a:lnSpc>
              <a:spcBef>
                <a:spcPct val="0"/>
              </a:spcBef>
              <a:buFont typeface="Arial"/>
              <a:buChar char="•"/>
            </a:pPr>
            <a:r>
              <a:rPr lang="en-US" sz="1873">
                <a:solidFill>
                  <a:srgbClr val="170B04">
                    <a:alpha val="71765"/>
                  </a:srgbClr>
                </a:solidFill>
                <a:latin typeface="Poppins"/>
                <a:ea typeface="Poppins"/>
                <a:cs typeface="Poppins"/>
                <a:sym typeface="Poppins"/>
              </a:rPr>
              <a:t>Weryfikacja procesu: wyświetlanie w konsoli wyniku scoringu dla każdego zdarzenia, co potwierdza poprawną komunikację między Kafką, connectorem i Flask API.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79656" y="-784072"/>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Freeform 5"/>
          <p:cNvSpPr/>
          <p:nvPr/>
        </p:nvSpPr>
        <p:spPr>
          <a:xfrm>
            <a:off x="3637731" y="1652557"/>
            <a:ext cx="12831303" cy="6367534"/>
          </a:xfrm>
          <a:custGeom>
            <a:avLst/>
            <a:gdLst/>
            <a:ahLst/>
            <a:cxnLst/>
            <a:rect l="l" t="t" r="r" b="b"/>
            <a:pathLst>
              <a:path w="12831303" h="6367534">
                <a:moveTo>
                  <a:pt x="0" y="0"/>
                </a:moveTo>
                <a:lnTo>
                  <a:pt x="12831303" y="0"/>
                </a:lnTo>
                <a:lnTo>
                  <a:pt x="12831303" y="6367534"/>
                </a:lnTo>
                <a:lnTo>
                  <a:pt x="0" y="6367534"/>
                </a:lnTo>
                <a:lnTo>
                  <a:pt x="0" y="0"/>
                </a:lnTo>
                <a:close/>
              </a:path>
            </a:pathLst>
          </a:custGeom>
          <a:blipFill>
            <a:blip r:embed="rId2"/>
            <a:stretch>
              <a:fillRect/>
            </a:stretch>
          </a:blipFill>
        </p:spPr>
        <p:txBody>
          <a:bodyPr/>
          <a:lstStyle/>
          <a:p>
            <a:endParaRPr lang="pl-PL"/>
          </a:p>
        </p:txBody>
      </p:sp>
      <p:sp>
        <p:nvSpPr>
          <p:cNvPr id="6" name="TextBox 6"/>
          <p:cNvSpPr txBox="1"/>
          <p:nvPr/>
        </p:nvSpPr>
        <p:spPr>
          <a:xfrm>
            <a:off x="3637731" y="585818"/>
            <a:ext cx="14335747" cy="1066739"/>
          </a:xfrm>
          <a:prstGeom prst="rect">
            <a:avLst/>
          </a:prstGeom>
        </p:spPr>
        <p:txBody>
          <a:bodyPr lIns="0" tIns="0" rIns="0" bIns="0" rtlCol="0" anchor="t">
            <a:spAutoFit/>
          </a:bodyPr>
          <a:lstStyle/>
          <a:p>
            <a:pPr algn="l">
              <a:lnSpc>
                <a:spcPts val="7866"/>
              </a:lnSpc>
            </a:pPr>
            <a:r>
              <a:rPr lang="en-US" sz="8193" b="1" spc="-417">
                <a:solidFill>
                  <a:srgbClr val="07364E"/>
                </a:solidFill>
                <a:latin typeface="Gotham Bold"/>
                <a:ea typeface="Gotham Bold"/>
                <a:cs typeface="Gotham Bold"/>
                <a:sym typeface="Gotham Bold"/>
              </a:rPr>
              <a:t>DASHBOARD ANALITYCZNY</a:t>
            </a:r>
          </a:p>
        </p:txBody>
      </p:sp>
      <p:sp>
        <p:nvSpPr>
          <p:cNvPr id="7" name="TextBox 7"/>
          <p:cNvSpPr txBox="1"/>
          <p:nvPr/>
        </p:nvSpPr>
        <p:spPr>
          <a:xfrm>
            <a:off x="3637731" y="8606890"/>
            <a:ext cx="13389542" cy="1198044"/>
          </a:xfrm>
          <a:prstGeom prst="rect">
            <a:avLst/>
          </a:prstGeom>
        </p:spPr>
        <p:txBody>
          <a:bodyPr lIns="0" tIns="0" rIns="0" bIns="0" rtlCol="0" anchor="t">
            <a:spAutoFit/>
          </a:bodyPr>
          <a:lstStyle/>
          <a:p>
            <a:pPr marL="404562" lvl="1" indent="-202281" algn="l">
              <a:lnSpc>
                <a:spcPts val="3185"/>
              </a:lnSpc>
              <a:spcBef>
                <a:spcPct val="0"/>
              </a:spcBef>
              <a:buFont typeface="Arial"/>
              <a:buChar char="•"/>
            </a:pPr>
            <a:r>
              <a:rPr lang="en-US" sz="1873" u="none" strike="noStrike" dirty="0">
                <a:solidFill>
                  <a:srgbClr val="170B04">
                    <a:alpha val="71765"/>
                  </a:srgbClr>
                </a:solidFill>
                <a:latin typeface="Poppins"/>
                <a:ea typeface="Poppins"/>
                <a:cs typeface="Poppins"/>
                <a:sym typeface="Poppins"/>
              </a:rPr>
              <a:t>Endpoint Flask API: /dashboard, </a:t>
            </a:r>
            <a:r>
              <a:rPr lang="en-US" sz="1873" u="none" strike="noStrike" dirty="0" err="1">
                <a:solidFill>
                  <a:srgbClr val="170B04">
                    <a:alpha val="71765"/>
                  </a:srgbClr>
                </a:solidFill>
                <a:latin typeface="Poppins"/>
                <a:ea typeface="Poppins"/>
                <a:cs typeface="Poppins"/>
                <a:sym typeface="Poppins"/>
              </a:rPr>
              <a:t>dostępny</a:t>
            </a:r>
            <a:r>
              <a:rPr lang="en-US" sz="1873" u="none" strike="noStrike" dirty="0">
                <a:solidFill>
                  <a:srgbClr val="170B04">
                    <a:alpha val="71765"/>
                  </a:srgbClr>
                </a:solidFill>
                <a:latin typeface="Poppins"/>
                <a:ea typeface="Poppins"/>
                <a:cs typeface="Poppins"/>
                <a:sym typeface="Poppins"/>
              </a:rPr>
              <a:t> pod </a:t>
            </a:r>
            <a:r>
              <a:rPr lang="en-US" sz="1873" u="none" strike="noStrike" dirty="0" err="1">
                <a:solidFill>
                  <a:srgbClr val="170B04">
                    <a:alpha val="71765"/>
                  </a:srgbClr>
                </a:solidFill>
                <a:latin typeface="Poppins"/>
                <a:ea typeface="Poppins"/>
                <a:cs typeface="Poppins"/>
                <a:sym typeface="Poppins"/>
              </a:rPr>
              <a:t>adresem</a:t>
            </a:r>
            <a:r>
              <a:rPr lang="en-US" sz="1873" u="none" strike="noStrike" dirty="0">
                <a:solidFill>
                  <a:srgbClr val="170B04">
                    <a:alpha val="71765"/>
                  </a:srgbClr>
                </a:solidFill>
                <a:latin typeface="Poppins"/>
                <a:ea typeface="Poppins"/>
                <a:cs typeface="Poppins"/>
                <a:sym typeface="Poppins"/>
              </a:rPr>
              <a:t> http://localhost:5000/dashboard</a:t>
            </a:r>
          </a:p>
          <a:p>
            <a:pPr marL="404562" lvl="1" indent="-202281" algn="l">
              <a:lnSpc>
                <a:spcPts val="3185"/>
              </a:lnSpc>
              <a:spcBef>
                <a:spcPct val="0"/>
              </a:spcBef>
              <a:buFont typeface="Arial"/>
              <a:buChar char="•"/>
            </a:pPr>
            <a:r>
              <a:rPr lang="en-US" sz="1873" u="none" strike="noStrike" dirty="0" err="1">
                <a:solidFill>
                  <a:srgbClr val="170B04">
                    <a:alpha val="71765"/>
                  </a:srgbClr>
                </a:solidFill>
                <a:latin typeface="Poppins"/>
                <a:ea typeface="Poppins"/>
                <a:cs typeface="Poppins"/>
                <a:sym typeface="Poppins"/>
              </a:rPr>
              <a:t>Podgląd</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działania</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systemu</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liczba</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ocenionych</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zdarzeń</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alertów</a:t>
            </a:r>
            <a:r>
              <a:rPr lang="en-US" sz="1873" u="none" strike="noStrike" dirty="0">
                <a:solidFill>
                  <a:srgbClr val="170B04">
                    <a:alpha val="71765"/>
                  </a:srgbClr>
                </a:solidFill>
                <a:latin typeface="Poppins"/>
                <a:ea typeface="Poppins"/>
                <a:cs typeface="Poppins"/>
                <a:sym typeface="Poppins"/>
              </a:rPr>
              <a:t> HIGH/CRITICAL </a:t>
            </a:r>
            <a:r>
              <a:rPr lang="en-US" sz="1873" u="none" strike="noStrike" dirty="0" err="1">
                <a:solidFill>
                  <a:srgbClr val="170B04">
                    <a:alpha val="71765"/>
                  </a:srgbClr>
                </a:solidFill>
                <a:latin typeface="Poppins"/>
                <a:ea typeface="Poppins"/>
                <a:cs typeface="Poppins"/>
                <a:sym typeface="Poppins"/>
              </a:rPr>
              <a:t>oraz</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rozkład</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poziomów</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ryzyka</a:t>
            </a:r>
            <a:endParaRPr lang="en-US" sz="1873" u="none" strike="noStrike" dirty="0">
              <a:solidFill>
                <a:srgbClr val="170B04">
                  <a:alpha val="71765"/>
                </a:srgbClr>
              </a:solidFill>
              <a:latin typeface="Poppins"/>
              <a:ea typeface="Poppins"/>
              <a:cs typeface="Poppins"/>
              <a:sym typeface="Poppins"/>
            </a:endParaRPr>
          </a:p>
          <a:p>
            <a:pPr marL="404562" lvl="1" indent="-202281" algn="l">
              <a:lnSpc>
                <a:spcPts val="3185"/>
              </a:lnSpc>
              <a:spcBef>
                <a:spcPct val="0"/>
              </a:spcBef>
              <a:buFont typeface="Arial"/>
              <a:buChar char="•"/>
            </a:pPr>
            <a:r>
              <a:rPr lang="en-US" sz="1873" u="none" strike="noStrike" dirty="0" err="1">
                <a:solidFill>
                  <a:srgbClr val="170B04">
                    <a:alpha val="71765"/>
                  </a:srgbClr>
                </a:solidFill>
                <a:latin typeface="Poppins"/>
                <a:ea typeface="Poppins"/>
                <a:cs typeface="Poppins"/>
                <a:sym typeface="Poppins"/>
              </a:rPr>
              <a:t>Tabela</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ostatnich</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zdarzeń</a:t>
            </a:r>
            <a:r>
              <a:rPr lang="en-US" sz="1873" u="none" strike="noStrike" dirty="0">
                <a:solidFill>
                  <a:srgbClr val="170B04">
                    <a:alpha val="71765"/>
                  </a:srgbClr>
                </a:solidFill>
                <a:latin typeface="Poppins"/>
                <a:ea typeface="Poppins"/>
                <a:cs typeface="Poppins"/>
                <a:sym typeface="Poppins"/>
              </a:rPr>
              <a:t>: ticker, </a:t>
            </a:r>
            <a:r>
              <a:rPr lang="en-US" sz="1873" u="none" strike="noStrike" dirty="0" err="1">
                <a:solidFill>
                  <a:srgbClr val="170B04">
                    <a:alpha val="71765"/>
                  </a:srgbClr>
                </a:solidFill>
                <a:latin typeface="Poppins"/>
                <a:ea typeface="Poppins"/>
                <a:cs typeface="Poppins"/>
                <a:sym typeface="Poppins"/>
              </a:rPr>
              <a:t>cena</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wolumen</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zmiana</a:t>
            </a:r>
            <a:r>
              <a:rPr lang="en-US" sz="1873" u="none" strike="noStrike" dirty="0">
                <a:solidFill>
                  <a:srgbClr val="170B04">
                    <a:alpha val="71765"/>
                  </a:srgbClr>
                </a:solidFill>
                <a:latin typeface="Poppins"/>
                <a:ea typeface="Poppins"/>
                <a:cs typeface="Poppins"/>
                <a:sym typeface="Poppins"/>
              </a:rPr>
              <a:t> %, score, </a:t>
            </a:r>
            <a:r>
              <a:rPr lang="en-US" sz="1873" u="none" strike="noStrike" dirty="0" err="1">
                <a:solidFill>
                  <a:srgbClr val="170B04">
                    <a:alpha val="71765"/>
                  </a:srgbClr>
                </a:solidFill>
                <a:latin typeface="Poppins"/>
                <a:ea typeface="Poppins"/>
                <a:cs typeface="Poppins"/>
                <a:sym typeface="Poppins"/>
              </a:rPr>
              <a:t>poziom</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ryzyka</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i</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uruchomione</a:t>
            </a:r>
            <a:r>
              <a:rPr lang="en-US" sz="1873" u="none" strike="noStrike" dirty="0">
                <a:solidFill>
                  <a:srgbClr val="170B04">
                    <a:alpha val="71765"/>
                  </a:srgbClr>
                </a:solidFill>
                <a:latin typeface="Poppins"/>
                <a:ea typeface="Poppins"/>
                <a:cs typeface="Poppins"/>
                <a:sym typeface="Poppins"/>
              </a:rPr>
              <a:t> </a:t>
            </a:r>
            <a:r>
              <a:rPr lang="en-US" sz="1873" u="none" strike="noStrike" dirty="0" err="1">
                <a:solidFill>
                  <a:srgbClr val="170B04">
                    <a:alpha val="71765"/>
                  </a:srgbClr>
                </a:solidFill>
                <a:latin typeface="Poppins"/>
                <a:ea typeface="Poppins"/>
                <a:cs typeface="Poppins"/>
                <a:sym typeface="Poppins"/>
              </a:rPr>
              <a:t>reguły</a:t>
            </a:r>
            <a:endParaRPr lang="en-US" sz="1873" u="none" strike="noStrike" dirty="0">
              <a:solidFill>
                <a:srgbClr val="170B04">
                  <a:alpha val="71765"/>
                </a:srgbClr>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79656" y="-784072"/>
            <a:ext cx="8593578" cy="13146547"/>
            <a:chOff x="0" y="0"/>
            <a:chExt cx="2263329" cy="3462465"/>
          </a:xfrm>
        </p:grpSpPr>
        <p:sp>
          <p:nvSpPr>
            <p:cNvPr id="3" name="Freeform 3"/>
            <p:cNvSpPr/>
            <p:nvPr/>
          </p:nvSpPr>
          <p:spPr>
            <a:xfrm>
              <a:off x="0" y="0"/>
              <a:ext cx="2263329" cy="3462465"/>
            </a:xfrm>
            <a:custGeom>
              <a:avLst/>
              <a:gdLst/>
              <a:ahLst/>
              <a:cxnLst/>
              <a:rect l="l" t="t" r="r" b="b"/>
              <a:pathLst>
                <a:path w="2263329" h="3462465">
                  <a:moveTo>
                    <a:pt x="0" y="0"/>
                  </a:moveTo>
                  <a:lnTo>
                    <a:pt x="2263329" y="0"/>
                  </a:lnTo>
                  <a:lnTo>
                    <a:pt x="2263329" y="3462465"/>
                  </a:lnTo>
                  <a:lnTo>
                    <a:pt x="0" y="3462465"/>
                  </a:lnTo>
                  <a:close/>
                </a:path>
              </a:pathLst>
            </a:custGeom>
            <a:solidFill>
              <a:srgbClr val="04293C"/>
            </a:solidFill>
          </p:spPr>
          <p:txBody>
            <a:bodyPr/>
            <a:lstStyle/>
            <a:p>
              <a:endParaRPr lang="pl-PL"/>
            </a:p>
          </p:txBody>
        </p:sp>
        <p:sp>
          <p:nvSpPr>
            <p:cNvPr id="4" name="TextBox 4"/>
            <p:cNvSpPr txBox="1"/>
            <p:nvPr/>
          </p:nvSpPr>
          <p:spPr>
            <a:xfrm>
              <a:off x="0" y="-57150"/>
              <a:ext cx="2263329" cy="3519615"/>
            </a:xfrm>
            <a:prstGeom prst="rect">
              <a:avLst/>
            </a:prstGeom>
          </p:spPr>
          <p:txBody>
            <a:bodyPr lIns="50800" tIns="50800" rIns="50800" bIns="50800" rtlCol="0" anchor="ctr"/>
            <a:lstStyle/>
            <a:p>
              <a:pPr algn="ctr">
                <a:lnSpc>
                  <a:spcPts val="2867"/>
                </a:lnSpc>
              </a:pPr>
              <a:endParaRPr/>
            </a:p>
          </p:txBody>
        </p:sp>
      </p:grpSp>
      <p:sp>
        <p:nvSpPr>
          <p:cNvPr id="5" name="TextBox 5"/>
          <p:cNvSpPr txBox="1"/>
          <p:nvPr/>
        </p:nvSpPr>
        <p:spPr>
          <a:xfrm>
            <a:off x="3741329" y="754817"/>
            <a:ext cx="14314171" cy="1074065"/>
          </a:xfrm>
          <a:prstGeom prst="rect">
            <a:avLst/>
          </a:prstGeom>
        </p:spPr>
        <p:txBody>
          <a:bodyPr lIns="0" tIns="0" rIns="0" bIns="0" rtlCol="0" anchor="t">
            <a:spAutoFit/>
          </a:bodyPr>
          <a:lstStyle/>
          <a:p>
            <a:pPr algn="l">
              <a:lnSpc>
                <a:spcPts val="7912"/>
              </a:lnSpc>
            </a:pPr>
            <a:r>
              <a:rPr lang="en-US" sz="8241" b="1" spc="-420">
                <a:solidFill>
                  <a:srgbClr val="07364E"/>
                </a:solidFill>
                <a:latin typeface="Gotham Bold"/>
                <a:ea typeface="Gotham Bold"/>
                <a:cs typeface="Gotham Bold"/>
                <a:sym typeface="Gotham Bold"/>
              </a:rPr>
              <a:t>PODSUMOWANIE SYSTEMU</a:t>
            </a:r>
          </a:p>
        </p:txBody>
      </p:sp>
      <p:sp>
        <p:nvSpPr>
          <p:cNvPr id="6" name="TextBox 6"/>
          <p:cNvSpPr txBox="1"/>
          <p:nvPr/>
        </p:nvSpPr>
        <p:spPr>
          <a:xfrm>
            <a:off x="3741329" y="2498869"/>
            <a:ext cx="13975237" cy="5766685"/>
          </a:xfrm>
          <a:prstGeom prst="rect">
            <a:avLst/>
          </a:prstGeom>
        </p:spPr>
        <p:txBody>
          <a:bodyPr lIns="0" tIns="0" rIns="0" bIns="0" rtlCol="0" anchor="t">
            <a:spAutoFit/>
          </a:bodyPr>
          <a:lstStyle/>
          <a:p>
            <a:pPr marL="481515" lvl="1" indent="-240757" algn="l">
              <a:lnSpc>
                <a:spcPts val="4594"/>
              </a:lnSpc>
              <a:buFont typeface="Arial"/>
              <a:buChar char="•"/>
            </a:pPr>
            <a:r>
              <a:rPr lang="en-US" sz="2230">
                <a:solidFill>
                  <a:srgbClr val="170B04">
                    <a:alpha val="71765"/>
                  </a:srgbClr>
                </a:solidFill>
                <a:latin typeface="Poppins"/>
                <a:ea typeface="Poppins"/>
                <a:cs typeface="Poppins"/>
                <a:sym typeface="Poppins"/>
              </a:rPr>
              <a:t>Działająca architektura Near Real-Time: przygotowano system, który cyklicznie pobiera dane rynkowe, przesyła je przez Kafkę i przekazuje do modułu scoringowego.</a:t>
            </a:r>
          </a:p>
          <a:p>
            <a:pPr marL="481515" lvl="1" indent="-240757" algn="l">
              <a:lnSpc>
                <a:spcPts val="4594"/>
              </a:lnSpc>
              <a:buFont typeface="Arial"/>
              <a:buChar char="•"/>
            </a:pPr>
            <a:r>
              <a:rPr lang="en-US" sz="2230">
                <a:solidFill>
                  <a:srgbClr val="170B04">
                    <a:alpha val="71765"/>
                  </a:srgbClr>
                </a:solidFill>
                <a:latin typeface="Poppins"/>
                <a:ea typeface="Poppins"/>
                <a:cs typeface="Poppins"/>
                <a:sym typeface="Poppins"/>
              </a:rPr>
              <a:t>Regułowa ocena zdarzeń: system klasyfikuje zdarzenia na podstawie zdefiniowanych reguł cenowo-wolumenowych, takich jak zmiana procentowa ceny, wolumen oraz źródło danych.</a:t>
            </a:r>
          </a:p>
          <a:p>
            <a:pPr marL="481515" lvl="1" indent="-240757" algn="l">
              <a:lnSpc>
                <a:spcPts val="4594"/>
              </a:lnSpc>
              <a:buFont typeface="Arial"/>
              <a:buChar char="•"/>
            </a:pPr>
            <a:r>
              <a:rPr lang="en-US" sz="2230">
                <a:solidFill>
                  <a:srgbClr val="170B04">
                    <a:alpha val="71765"/>
                  </a:srgbClr>
                </a:solidFill>
                <a:latin typeface="Poppins"/>
                <a:ea typeface="Poppins"/>
                <a:cs typeface="Poppins"/>
                <a:sym typeface="Poppins"/>
              </a:rPr>
              <a:t>Automatyzacja alertów: Flask API przypisuje poziomy ryzyka LOW, MEDIUM, HIGH i CRITICAL oraz generuje alerty dla zdarzeń wysokiego lub krytycznego ryzyka.</a:t>
            </a:r>
          </a:p>
          <a:p>
            <a:pPr marL="481515" lvl="1" indent="-240757" algn="l">
              <a:lnSpc>
                <a:spcPts val="4594"/>
              </a:lnSpc>
              <a:buFont typeface="Arial"/>
              <a:buChar char="•"/>
            </a:pPr>
            <a:r>
              <a:rPr lang="en-US" sz="2230">
                <a:solidFill>
                  <a:srgbClr val="170B04">
                    <a:alpha val="71765"/>
                  </a:srgbClr>
                </a:solidFill>
                <a:latin typeface="Poppins"/>
                <a:ea typeface="Poppins"/>
                <a:cs typeface="Poppins"/>
                <a:sym typeface="Poppins"/>
              </a:rPr>
              <a:t>Dashboard analityczny: końcowa warstwa systemu prezentuje liczbę ocenionych zdarzeń, rozkład poziomów ryzyka oraz tabelę ostatnich komunikatów rynkowych.</a:t>
            </a:r>
          </a:p>
          <a:p>
            <a:pPr marL="481515" lvl="1" indent="-240757" algn="l">
              <a:lnSpc>
                <a:spcPts val="4594"/>
              </a:lnSpc>
              <a:buFont typeface="Arial"/>
              <a:buChar char="•"/>
            </a:pPr>
            <a:r>
              <a:rPr lang="en-US" sz="2230">
                <a:solidFill>
                  <a:srgbClr val="170B04">
                    <a:alpha val="71765"/>
                  </a:srgbClr>
                </a:solidFill>
                <a:latin typeface="Poppins"/>
                <a:ea typeface="Poppins"/>
                <a:cs typeface="Poppins"/>
                <a:sym typeface="Poppins"/>
              </a:rPr>
              <a:t>Test na różnych instrumentach: rozwiązanie sprawdzono na dwóch funduszach ETF, SPY i QQQ, oraz jednej bardziej zmiennej akcji technologicznej, NVDA.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pl-PL"/>
          </a:p>
        </p:txBody>
      </p:sp>
      <p:grpSp>
        <p:nvGrpSpPr>
          <p:cNvPr id="3" name="Group 3"/>
          <p:cNvGrpSpPr/>
          <p:nvPr/>
        </p:nvGrpSpPr>
        <p:grpSpPr>
          <a:xfrm>
            <a:off x="0" y="0"/>
            <a:ext cx="18288000" cy="8816462"/>
            <a:chOff x="0" y="0"/>
            <a:chExt cx="4816593" cy="2322031"/>
          </a:xfrm>
        </p:grpSpPr>
        <p:sp>
          <p:nvSpPr>
            <p:cNvPr id="4" name="Freeform 4"/>
            <p:cNvSpPr/>
            <p:nvPr/>
          </p:nvSpPr>
          <p:spPr>
            <a:xfrm>
              <a:off x="0" y="0"/>
              <a:ext cx="4816592" cy="2322031"/>
            </a:xfrm>
            <a:custGeom>
              <a:avLst/>
              <a:gdLst/>
              <a:ahLst/>
              <a:cxnLst/>
              <a:rect l="l" t="t" r="r" b="b"/>
              <a:pathLst>
                <a:path w="4816592" h="2322031">
                  <a:moveTo>
                    <a:pt x="0" y="0"/>
                  </a:moveTo>
                  <a:lnTo>
                    <a:pt x="4816592" y="0"/>
                  </a:lnTo>
                  <a:lnTo>
                    <a:pt x="4816592" y="2322031"/>
                  </a:lnTo>
                  <a:lnTo>
                    <a:pt x="0" y="2322031"/>
                  </a:lnTo>
                  <a:close/>
                </a:path>
              </a:pathLst>
            </a:custGeom>
            <a:gradFill rotWithShape="1">
              <a:gsLst>
                <a:gs pos="0">
                  <a:srgbClr val="052839">
                    <a:alpha val="100000"/>
                  </a:srgbClr>
                </a:gs>
                <a:gs pos="100000">
                  <a:srgbClr val="0A5F87">
                    <a:alpha val="0"/>
                  </a:srgbClr>
                </a:gs>
              </a:gsLst>
              <a:lin ang="5400000"/>
            </a:gradFill>
          </p:spPr>
          <p:txBody>
            <a:bodyPr/>
            <a:lstStyle/>
            <a:p>
              <a:endParaRPr lang="pl-PL"/>
            </a:p>
          </p:txBody>
        </p:sp>
        <p:sp>
          <p:nvSpPr>
            <p:cNvPr id="5" name="TextBox 5"/>
            <p:cNvSpPr txBox="1"/>
            <p:nvPr/>
          </p:nvSpPr>
          <p:spPr>
            <a:xfrm>
              <a:off x="0" y="-38100"/>
              <a:ext cx="4816593" cy="236013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4998656" y="1204352"/>
            <a:ext cx="7792198" cy="7792198"/>
          </a:xfrm>
          <a:custGeom>
            <a:avLst/>
            <a:gdLst/>
            <a:ahLst/>
            <a:cxnLst/>
            <a:rect l="l" t="t" r="r" b="b"/>
            <a:pathLst>
              <a:path w="7792198" h="7792198">
                <a:moveTo>
                  <a:pt x="0" y="0"/>
                </a:moveTo>
                <a:lnTo>
                  <a:pt x="7792198" y="0"/>
                </a:lnTo>
                <a:lnTo>
                  <a:pt x="7792198" y="7792198"/>
                </a:lnTo>
                <a:lnTo>
                  <a:pt x="0" y="7792198"/>
                </a:lnTo>
                <a:lnTo>
                  <a:pt x="0" y="0"/>
                </a:lnTo>
                <a:close/>
              </a:path>
            </a:pathLst>
          </a:custGeom>
          <a:blipFill>
            <a:blip>
              <a:alphaModFix amt="62000"/>
              <a:extLst>
                <a:ext uri="{96DAC541-7B7A-43D3-8B79-37D633B846F1}">
                  <asvg:svgBlip xmlns:asvg="http://schemas.microsoft.com/office/drawing/2016/SVG/main" r:embed="rId3"/>
                </a:ext>
              </a:extLst>
            </a:blip>
            <a:stretch>
              <a:fillRect/>
            </a:stretch>
          </a:blipFill>
        </p:spPr>
        <p:txBody>
          <a:bodyPr/>
          <a:lstStyle/>
          <a:p>
            <a:endParaRPr lang="pl-PL"/>
          </a:p>
        </p:txBody>
      </p:sp>
      <p:sp>
        <p:nvSpPr>
          <p:cNvPr id="7" name="TextBox 7"/>
          <p:cNvSpPr txBox="1"/>
          <p:nvPr/>
        </p:nvSpPr>
        <p:spPr>
          <a:xfrm>
            <a:off x="1847311" y="4172794"/>
            <a:ext cx="14593377" cy="1918950"/>
          </a:xfrm>
          <a:prstGeom prst="rect">
            <a:avLst/>
          </a:prstGeom>
        </p:spPr>
        <p:txBody>
          <a:bodyPr lIns="0" tIns="0" rIns="0" bIns="0" rtlCol="0" anchor="t">
            <a:spAutoFit/>
          </a:bodyPr>
          <a:lstStyle/>
          <a:p>
            <a:pPr algn="ctr">
              <a:lnSpc>
                <a:spcPts val="14239"/>
              </a:lnSpc>
            </a:pPr>
            <a:r>
              <a:rPr lang="en-US" sz="14832" b="1" spc="-756">
                <a:solidFill>
                  <a:srgbClr val="FFFFFF"/>
                </a:solidFill>
                <a:latin typeface="Gotham Bold"/>
                <a:ea typeface="Gotham Bold"/>
                <a:cs typeface="Gotham Bold"/>
                <a:sym typeface="Gotham Bold"/>
              </a:rPr>
              <a:t>DZIĘKUJEMY!</a:t>
            </a:r>
          </a:p>
        </p:txBody>
      </p:sp>
      <p:grpSp>
        <p:nvGrpSpPr>
          <p:cNvPr id="8" name="Group 8"/>
          <p:cNvGrpSpPr/>
          <p:nvPr/>
        </p:nvGrpSpPr>
        <p:grpSpPr>
          <a:xfrm>
            <a:off x="-211139" y="9468263"/>
            <a:ext cx="18710279" cy="1295036"/>
            <a:chOff x="0" y="0"/>
            <a:chExt cx="4927810" cy="341079"/>
          </a:xfrm>
        </p:grpSpPr>
        <p:sp>
          <p:nvSpPr>
            <p:cNvPr id="9" name="Freeform 9"/>
            <p:cNvSpPr/>
            <p:nvPr/>
          </p:nvSpPr>
          <p:spPr>
            <a:xfrm>
              <a:off x="0" y="0"/>
              <a:ext cx="4927810" cy="341079"/>
            </a:xfrm>
            <a:custGeom>
              <a:avLst/>
              <a:gdLst/>
              <a:ahLst/>
              <a:cxnLst/>
              <a:rect l="l" t="t" r="r" b="b"/>
              <a:pathLst>
                <a:path w="4927810" h="341079">
                  <a:moveTo>
                    <a:pt x="0" y="0"/>
                  </a:moveTo>
                  <a:lnTo>
                    <a:pt x="4927810" y="0"/>
                  </a:lnTo>
                  <a:lnTo>
                    <a:pt x="4927810" y="341079"/>
                  </a:lnTo>
                  <a:lnTo>
                    <a:pt x="0" y="341079"/>
                  </a:lnTo>
                  <a:close/>
                </a:path>
              </a:pathLst>
            </a:custGeom>
            <a:solidFill>
              <a:srgbClr val="04293C"/>
            </a:solidFill>
          </p:spPr>
          <p:txBody>
            <a:bodyPr/>
            <a:lstStyle/>
            <a:p>
              <a:endParaRPr lang="pl-PL"/>
            </a:p>
          </p:txBody>
        </p:sp>
        <p:sp>
          <p:nvSpPr>
            <p:cNvPr id="10" name="TextBox 10"/>
            <p:cNvSpPr txBox="1"/>
            <p:nvPr/>
          </p:nvSpPr>
          <p:spPr>
            <a:xfrm>
              <a:off x="0" y="-57150"/>
              <a:ext cx="4927810" cy="398229"/>
            </a:xfrm>
            <a:prstGeom prst="rect">
              <a:avLst/>
            </a:prstGeom>
          </p:spPr>
          <p:txBody>
            <a:bodyPr lIns="50800" tIns="50800" rIns="50800" bIns="50800" rtlCol="0" anchor="ctr"/>
            <a:lstStyle/>
            <a:p>
              <a:pPr algn="ctr">
                <a:lnSpc>
                  <a:spcPts val="2867"/>
                </a:lnSpc>
              </a:pPr>
              <a:endParaRPr/>
            </a:p>
          </p:txBody>
        </p:sp>
      </p:grpSp>
      <p:grpSp>
        <p:nvGrpSpPr>
          <p:cNvPr id="11" name="Group 11"/>
          <p:cNvGrpSpPr/>
          <p:nvPr/>
        </p:nvGrpSpPr>
        <p:grpSpPr>
          <a:xfrm rot="-2864482">
            <a:off x="16744950" y="9109479"/>
            <a:ext cx="3086100" cy="1549244"/>
            <a:chOff x="0" y="0"/>
            <a:chExt cx="812800" cy="408031"/>
          </a:xfrm>
        </p:grpSpPr>
        <p:sp>
          <p:nvSpPr>
            <p:cNvPr id="12" name="Freeform 12"/>
            <p:cNvSpPr/>
            <p:nvPr/>
          </p:nvSpPr>
          <p:spPr>
            <a:xfrm>
              <a:off x="0" y="0"/>
              <a:ext cx="812800" cy="408031"/>
            </a:xfrm>
            <a:custGeom>
              <a:avLst/>
              <a:gdLst/>
              <a:ahLst/>
              <a:cxnLst/>
              <a:rect l="l" t="t" r="r" b="b"/>
              <a:pathLst>
                <a:path w="812800" h="408031">
                  <a:moveTo>
                    <a:pt x="0" y="0"/>
                  </a:moveTo>
                  <a:lnTo>
                    <a:pt x="812800" y="0"/>
                  </a:lnTo>
                  <a:lnTo>
                    <a:pt x="812800" y="408031"/>
                  </a:lnTo>
                  <a:lnTo>
                    <a:pt x="0" y="408031"/>
                  </a:lnTo>
                  <a:close/>
                </a:path>
              </a:pathLst>
            </a:custGeom>
            <a:solidFill>
              <a:srgbClr val="FFFFFF"/>
            </a:solidFill>
          </p:spPr>
          <p:txBody>
            <a:bodyPr/>
            <a:lstStyle/>
            <a:p>
              <a:endParaRPr lang="pl-PL"/>
            </a:p>
          </p:txBody>
        </p:sp>
        <p:sp>
          <p:nvSpPr>
            <p:cNvPr id="13" name="TextBox 13"/>
            <p:cNvSpPr txBox="1"/>
            <p:nvPr/>
          </p:nvSpPr>
          <p:spPr>
            <a:xfrm>
              <a:off x="0" y="-57150"/>
              <a:ext cx="812800" cy="465181"/>
            </a:xfrm>
            <a:prstGeom prst="rect">
              <a:avLst/>
            </a:prstGeom>
          </p:spPr>
          <p:txBody>
            <a:bodyPr lIns="50800" tIns="50800" rIns="50800" bIns="50800" rtlCol="0" anchor="ctr"/>
            <a:lstStyle/>
            <a:p>
              <a:pPr algn="ctr">
                <a:lnSpc>
                  <a:spcPts val="2867"/>
                </a:lnSpc>
              </a:pPr>
              <a:endParaRPr/>
            </a:p>
          </p:txBody>
        </p:sp>
      </p:grpSp>
      <p:grpSp>
        <p:nvGrpSpPr>
          <p:cNvPr id="14" name="Group 14"/>
          <p:cNvGrpSpPr/>
          <p:nvPr/>
        </p:nvGrpSpPr>
        <p:grpSpPr>
          <a:xfrm rot="-2864482">
            <a:off x="-1319740" y="-735279"/>
            <a:ext cx="3086100" cy="1549244"/>
            <a:chOff x="0" y="0"/>
            <a:chExt cx="812800" cy="408031"/>
          </a:xfrm>
        </p:grpSpPr>
        <p:sp>
          <p:nvSpPr>
            <p:cNvPr id="15" name="Freeform 15"/>
            <p:cNvSpPr/>
            <p:nvPr/>
          </p:nvSpPr>
          <p:spPr>
            <a:xfrm>
              <a:off x="0" y="0"/>
              <a:ext cx="812800" cy="408031"/>
            </a:xfrm>
            <a:custGeom>
              <a:avLst/>
              <a:gdLst/>
              <a:ahLst/>
              <a:cxnLst/>
              <a:rect l="l" t="t" r="r" b="b"/>
              <a:pathLst>
                <a:path w="812800" h="408031">
                  <a:moveTo>
                    <a:pt x="0" y="0"/>
                  </a:moveTo>
                  <a:lnTo>
                    <a:pt x="812800" y="0"/>
                  </a:lnTo>
                  <a:lnTo>
                    <a:pt x="812800" y="408031"/>
                  </a:lnTo>
                  <a:lnTo>
                    <a:pt x="0" y="408031"/>
                  </a:lnTo>
                  <a:close/>
                </a:path>
              </a:pathLst>
            </a:custGeom>
            <a:solidFill>
              <a:srgbClr val="FFFFFF"/>
            </a:solidFill>
          </p:spPr>
          <p:txBody>
            <a:bodyPr/>
            <a:lstStyle/>
            <a:p>
              <a:endParaRPr lang="pl-PL"/>
            </a:p>
          </p:txBody>
        </p:sp>
        <p:sp>
          <p:nvSpPr>
            <p:cNvPr id="16" name="TextBox 16"/>
            <p:cNvSpPr txBox="1"/>
            <p:nvPr/>
          </p:nvSpPr>
          <p:spPr>
            <a:xfrm>
              <a:off x="0" y="-57150"/>
              <a:ext cx="812800" cy="465181"/>
            </a:xfrm>
            <a:prstGeom prst="rect">
              <a:avLst/>
            </a:prstGeom>
          </p:spPr>
          <p:txBody>
            <a:bodyPr lIns="50800" tIns="50800" rIns="50800" bIns="50800" rtlCol="0" anchor="ctr"/>
            <a:lstStyle/>
            <a:p>
              <a:pPr algn="ctr">
                <a:lnSpc>
                  <a:spcPts val="2867"/>
                </a:lnSpc>
              </a:pPr>
              <a:endParaRPr/>
            </a:p>
          </p:txBody>
        </p:sp>
      </p:grpSp>
      <p:grpSp>
        <p:nvGrpSpPr>
          <p:cNvPr id="17" name="Group 17"/>
          <p:cNvGrpSpPr/>
          <p:nvPr/>
        </p:nvGrpSpPr>
        <p:grpSpPr>
          <a:xfrm rot="-2864482">
            <a:off x="15157034" y="10164969"/>
            <a:ext cx="3086100" cy="94824"/>
            <a:chOff x="0" y="0"/>
            <a:chExt cx="812800" cy="24974"/>
          </a:xfrm>
        </p:grpSpPr>
        <p:sp>
          <p:nvSpPr>
            <p:cNvPr id="18" name="Freeform 18"/>
            <p:cNvSpPr/>
            <p:nvPr/>
          </p:nvSpPr>
          <p:spPr>
            <a:xfrm>
              <a:off x="0" y="0"/>
              <a:ext cx="812800" cy="24974"/>
            </a:xfrm>
            <a:custGeom>
              <a:avLst/>
              <a:gdLst/>
              <a:ahLst/>
              <a:cxnLst/>
              <a:rect l="l" t="t" r="r" b="b"/>
              <a:pathLst>
                <a:path w="812800" h="24974">
                  <a:moveTo>
                    <a:pt x="0" y="0"/>
                  </a:moveTo>
                  <a:lnTo>
                    <a:pt x="812800" y="0"/>
                  </a:lnTo>
                  <a:lnTo>
                    <a:pt x="812800" y="24974"/>
                  </a:lnTo>
                  <a:lnTo>
                    <a:pt x="0" y="24974"/>
                  </a:lnTo>
                  <a:close/>
                </a:path>
              </a:pathLst>
            </a:custGeom>
            <a:solidFill>
              <a:srgbClr val="FFFFFF"/>
            </a:solidFill>
          </p:spPr>
          <p:txBody>
            <a:bodyPr/>
            <a:lstStyle/>
            <a:p>
              <a:endParaRPr lang="pl-PL"/>
            </a:p>
          </p:txBody>
        </p:sp>
        <p:sp>
          <p:nvSpPr>
            <p:cNvPr id="19" name="TextBox 19"/>
            <p:cNvSpPr txBox="1"/>
            <p:nvPr/>
          </p:nvSpPr>
          <p:spPr>
            <a:xfrm>
              <a:off x="0" y="-57150"/>
              <a:ext cx="812800" cy="82124"/>
            </a:xfrm>
            <a:prstGeom prst="rect">
              <a:avLst/>
            </a:prstGeom>
          </p:spPr>
          <p:txBody>
            <a:bodyPr lIns="50800" tIns="50800" rIns="50800" bIns="50800" rtlCol="0" anchor="ctr"/>
            <a:lstStyle/>
            <a:p>
              <a:pPr algn="ctr">
                <a:lnSpc>
                  <a:spcPts val="2867"/>
                </a:lnSpc>
              </a:pPr>
              <a:endParaRPr/>
            </a:p>
          </p:txBody>
        </p:sp>
      </p:grpSp>
      <p:grpSp>
        <p:nvGrpSpPr>
          <p:cNvPr id="20" name="Group 20"/>
          <p:cNvGrpSpPr/>
          <p:nvPr/>
        </p:nvGrpSpPr>
        <p:grpSpPr>
          <a:xfrm rot="-2864482">
            <a:off x="-9351" y="-8069"/>
            <a:ext cx="3086100" cy="94824"/>
            <a:chOff x="0" y="0"/>
            <a:chExt cx="812800" cy="24974"/>
          </a:xfrm>
        </p:grpSpPr>
        <p:sp>
          <p:nvSpPr>
            <p:cNvPr id="21" name="Freeform 21"/>
            <p:cNvSpPr/>
            <p:nvPr/>
          </p:nvSpPr>
          <p:spPr>
            <a:xfrm>
              <a:off x="0" y="0"/>
              <a:ext cx="812800" cy="24974"/>
            </a:xfrm>
            <a:custGeom>
              <a:avLst/>
              <a:gdLst/>
              <a:ahLst/>
              <a:cxnLst/>
              <a:rect l="l" t="t" r="r" b="b"/>
              <a:pathLst>
                <a:path w="812800" h="24974">
                  <a:moveTo>
                    <a:pt x="0" y="0"/>
                  </a:moveTo>
                  <a:lnTo>
                    <a:pt x="812800" y="0"/>
                  </a:lnTo>
                  <a:lnTo>
                    <a:pt x="812800" y="24974"/>
                  </a:lnTo>
                  <a:lnTo>
                    <a:pt x="0" y="24974"/>
                  </a:lnTo>
                  <a:close/>
                </a:path>
              </a:pathLst>
            </a:custGeom>
            <a:solidFill>
              <a:srgbClr val="FFFFFF"/>
            </a:solidFill>
          </p:spPr>
          <p:txBody>
            <a:bodyPr/>
            <a:lstStyle/>
            <a:p>
              <a:endParaRPr lang="pl-PL"/>
            </a:p>
          </p:txBody>
        </p:sp>
        <p:sp>
          <p:nvSpPr>
            <p:cNvPr id="22" name="TextBox 22"/>
            <p:cNvSpPr txBox="1"/>
            <p:nvPr/>
          </p:nvSpPr>
          <p:spPr>
            <a:xfrm>
              <a:off x="0" y="-57150"/>
              <a:ext cx="812800" cy="82124"/>
            </a:xfrm>
            <a:prstGeom prst="rect">
              <a:avLst/>
            </a:prstGeom>
          </p:spPr>
          <p:txBody>
            <a:bodyPr lIns="50800" tIns="50800" rIns="50800" bIns="50800" rtlCol="0" anchor="ctr"/>
            <a:lstStyle/>
            <a:p>
              <a:pPr algn="ctr">
                <a:lnSpc>
                  <a:spcPts val="2867"/>
                </a:lnSpc>
              </a:pPr>
              <a:endParaRPr/>
            </a:p>
          </p:txBody>
        </p:sp>
      </p:grpSp>
      <p:sp>
        <p:nvSpPr>
          <p:cNvPr id="23" name="TextBox 23"/>
          <p:cNvSpPr txBox="1"/>
          <p:nvPr/>
        </p:nvSpPr>
        <p:spPr>
          <a:xfrm>
            <a:off x="4573937" y="6639639"/>
            <a:ext cx="9140126" cy="2176823"/>
          </a:xfrm>
          <a:prstGeom prst="rect">
            <a:avLst/>
          </a:prstGeom>
        </p:spPr>
        <p:txBody>
          <a:bodyPr lIns="0" tIns="0" rIns="0" bIns="0" rtlCol="0" anchor="t">
            <a:spAutoFit/>
          </a:bodyPr>
          <a:lstStyle/>
          <a:p>
            <a:pPr algn="ctr">
              <a:lnSpc>
                <a:spcPts val="2867"/>
              </a:lnSpc>
            </a:pPr>
            <a:r>
              <a:rPr lang="en-US" sz="2048" spc="256">
                <a:solidFill>
                  <a:srgbClr val="FFFFFF"/>
                </a:solidFill>
                <a:latin typeface="Poppins"/>
                <a:ea typeface="Poppins"/>
                <a:cs typeface="Poppins"/>
                <a:sym typeface="Poppins"/>
              </a:rPr>
              <a:t>BARTOSZ KROP 121968</a:t>
            </a:r>
          </a:p>
          <a:p>
            <a:pPr algn="ctr">
              <a:lnSpc>
                <a:spcPts val="2867"/>
              </a:lnSpc>
            </a:pPr>
            <a:r>
              <a:rPr lang="en-US" sz="2048" spc="256">
                <a:solidFill>
                  <a:srgbClr val="FFFFFF"/>
                </a:solidFill>
                <a:latin typeface="Poppins"/>
                <a:ea typeface="Poppins"/>
                <a:cs typeface="Poppins"/>
                <a:sym typeface="Poppins"/>
              </a:rPr>
              <a:t>MICHAŁ GASIŃSKI 121389</a:t>
            </a:r>
          </a:p>
          <a:p>
            <a:pPr algn="ctr">
              <a:lnSpc>
                <a:spcPts val="2867"/>
              </a:lnSpc>
            </a:pPr>
            <a:r>
              <a:rPr lang="en-US" sz="2048" spc="256">
                <a:solidFill>
                  <a:srgbClr val="FFFFFF"/>
                </a:solidFill>
                <a:latin typeface="Poppins"/>
                <a:ea typeface="Poppins"/>
                <a:cs typeface="Poppins"/>
                <a:sym typeface="Poppins"/>
              </a:rPr>
              <a:t>KRZYSZTOF GOZDEK 121402</a:t>
            </a:r>
          </a:p>
          <a:p>
            <a:pPr algn="ctr">
              <a:lnSpc>
                <a:spcPts val="2867"/>
              </a:lnSpc>
            </a:pPr>
            <a:r>
              <a:rPr lang="en-US" sz="2048" spc="256">
                <a:solidFill>
                  <a:srgbClr val="FFFFFF"/>
                </a:solidFill>
                <a:latin typeface="Poppins"/>
                <a:ea typeface="Poppins"/>
                <a:cs typeface="Poppins"/>
                <a:sym typeface="Poppins"/>
              </a:rPr>
              <a:t>ALICJA RUDOWICZ 121870</a:t>
            </a:r>
          </a:p>
          <a:p>
            <a:pPr algn="ctr">
              <a:lnSpc>
                <a:spcPts val="2867"/>
              </a:lnSpc>
            </a:pPr>
            <a:r>
              <a:rPr lang="en-US" sz="2048" spc="256">
                <a:solidFill>
                  <a:srgbClr val="FFFFFF"/>
                </a:solidFill>
                <a:latin typeface="Poppins"/>
                <a:ea typeface="Poppins"/>
                <a:cs typeface="Poppins"/>
                <a:sym typeface="Poppins"/>
              </a:rPr>
              <a:t>DAWID WASIAK 121441</a:t>
            </a:r>
          </a:p>
          <a:p>
            <a:pPr algn="ctr">
              <a:lnSpc>
                <a:spcPts val="2867"/>
              </a:lnSpc>
            </a:pPr>
            <a:endParaRPr lang="en-US" sz="2048" spc="256">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967</Words>
  <Application>Microsoft Office PowerPoint</Application>
  <PresentationFormat>Niestandardowy</PresentationFormat>
  <Paragraphs>70</Paragraphs>
  <Slides>13</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13</vt:i4>
      </vt:variant>
    </vt:vector>
  </HeadingPairs>
  <TitlesOfParts>
    <vt:vector size="18" baseType="lpstr">
      <vt:lpstr>Gotham Bold</vt:lpstr>
      <vt:lpstr>Arial</vt:lpstr>
      <vt:lpstr>Poppins</vt:lpstr>
      <vt:lpstr>Calibri</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adwcr projekt</dc:title>
  <cp:lastModifiedBy>Dawid Wasiak</cp:lastModifiedBy>
  <cp:revision>2</cp:revision>
  <dcterms:created xsi:type="dcterms:W3CDTF">2006-08-16T00:00:00Z</dcterms:created>
  <dcterms:modified xsi:type="dcterms:W3CDTF">2026-06-06T16:29:29Z</dcterms:modified>
  <dc:identifier>DAHKxir-JLA</dc:identifier>
</cp:coreProperties>
</file>